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73" r:id="rId2"/>
    <p:sldId id="257" r:id="rId3"/>
    <p:sldId id="259" r:id="rId4"/>
    <p:sldId id="261" r:id="rId5"/>
    <p:sldId id="260" r:id="rId6"/>
    <p:sldId id="262" r:id="rId7"/>
    <p:sldId id="263" r:id="rId8"/>
    <p:sldId id="267" r:id="rId9"/>
    <p:sldId id="268" r:id="rId10"/>
    <p:sldId id="269" r:id="rId11"/>
    <p:sldId id="270" r:id="rId12"/>
    <p:sldId id="271" r:id="rId13"/>
    <p:sldId id="272" r:id="rId14"/>
    <p:sldId id="265" r:id="rId15"/>
    <p:sldId id="256" r:id="rId16"/>
  </p:sldIdLst>
  <p:sldSz cx="9144000" cy="6858000" type="screen4x3"/>
  <p:notesSz cx="6858000" cy="9144000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6">
          <p15:clr>
            <a:srgbClr val="A4A3A4"/>
          </p15:clr>
        </p15:guide>
        <p15:guide id="2" pos="4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4979"/>
    <a:srgbClr val="0D497A"/>
    <a:srgbClr val="003053"/>
    <a:srgbClr val="0032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58" autoAdjust="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886" y="82"/>
      </p:cViewPr>
      <p:guideLst>
        <p:guide orient="horz" pos="1806"/>
        <p:guide pos="45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F3CCC-77DD-F84F-A249-CA3C5045A043}" type="datetime1">
              <a:rPr lang="it-IT" smtClean="0"/>
              <a:pPr/>
              <a:t>10/09/2026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CFBF69-E6D8-384B-B1CC-31CC9EB4A4AC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1485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692227-D6DC-FD45-9507-DB2BAD58473C}" type="datetime1">
              <a:rPr lang="it-IT" smtClean="0"/>
              <a:pPr/>
              <a:t>10/09/2026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986711-015B-0142-88C4-65D50E44FA77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209625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6239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BFB2C-138F-7F63-C9C6-E9712870B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7E73CBB-75E1-77E3-4601-DC485726EB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4FD28C1-8400-9375-F045-2F40A4D39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755DBDE-BC83-8BC8-4C20-84952C976D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8354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1708-242B-9373-31C1-D5702D60C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828C03D-A9AE-B4FB-FA50-88884CFFBA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85C9742-8BBF-BC8C-953E-011A342E07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EAD202A-4F18-AD9B-901C-9F4E888ECA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476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E13D3-3BA6-639D-64A2-AB5EA0B38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D1908CE-04AF-D248-B631-257953DBD7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251E597-AA46-83A7-9C4A-C9E18505FC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CC478FD-59E2-83FA-BC45-1497857458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28245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C79D5-38CA-60ED-2240-DCFF251C5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4358C42-2A6D-AC6C-6A6D-8ED80D9AF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2E4BEA1-6485-8E30-123C-9C6033878C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0EBAF60-6675-F3A9-14A9-0ED09DD76F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720241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7FE76-3440-F9C6-7DBA-2E643C3A1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17A7C3F-18D8-0F85-D3F6-618F3823CF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D9408EB-F7D6-57EC-DFDC-1847BC19C6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6E5DCB5-D571-643A-0B37-58D753F1E8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417766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0520D-2CD2-1FD6-8DAB-A71E05D08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9B50B2E-9312-5619-4E44-A6D7ADD1C7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6F6F51C-1CFB-B30C-41DB-B8C3C9B4B9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4485B30-BCB4-C41A-547C-5A3EADE7E4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702612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F5ED4-27C8-8306-95D2-C53314BFE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5FDD206-3DD1-B610-1F36-B02E837B53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AFDBDB7-D128-CF9C-286E-81DEED0D25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C9B2594-0D68-21E2-3B88-20D939D6B6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286187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49B8B-C620-F7F6-80C5-FD903BB84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DCEF53A-68AF-5726-C5E8-4E27ABE135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F08373B-2EDC-5406-27F4-AE68BAA31E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3E6C869-2708-8B75-38BE-6559DA5AB9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51551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D8B85-6EE5-ED67-D581-B150B9BF2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D95E3BB-EC7F-64BC-3825-42F2C6B605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856E594-752C-7C13-D309-2D75887F67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0CD62BB-DD3E-A7E8-6F39-40B88084FD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77045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CE928-C96F-3578-487E-6B8E47FEF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2043476-4AB9-F824-B5AE-C83A8FE3F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920854A-4B3A-8F64-D31C-672D52D2F3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8AC08D0-F468-EA7A-EEBB-6531A40DE3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749121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AC106-BCFD-1729-03B4-D1CA96B00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B36EBA9-92D0-DC63-E0B4-A54B6649F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2CA3263-3009-4296-D014-F68C52CE20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3CD9B7C-4D7B-3A8F-78F0-5A69F01DAA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10938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35450-A28F-3999-7900-C2F610CD4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3F5A1D6-C19E-6B3E-54C1-6AC8DD4CA2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D7E758A-4779-E945-8EAE-598D97696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94C8380-B981-2D9D-0DB3-F4B63561B1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986711-015B-0142-88C4-65D50E44FA77}" type="slidenum">
              <a:rPr lang="it-IT" smtClean="0"/>
              <a:pPr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81168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10/09/2026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7240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10/09/2026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55808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10/09/2026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38374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10/09/2026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3381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10/09/2026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9635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10/09/2026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36006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10/09/2026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6321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10/09/2026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4890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10/09/2026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9643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10/09/2026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8563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BF249-6BAC-CD40-AAE9-334F110649E5}" type="datetimeFigureOut">
              <a:rPr lang="it-IT" smtClean="0"/>
              <a:pPr/>
              <a:t>10/09/2026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8520A-26EA-DE4B-B141-4532FC98FF0E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1774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8BF249-6BAC-CD40-AAE9-334F110649E5}" type="datetimeFigureOut">
              <a:rPr lang="it-IT" smtClean="0"/>
              <a:pPr/>
              <a:t>10/09/2026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8520A-26EA-DE4B-B141-4532FC98FF0E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7915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55D22-7E9B-248C-E2F3-74B50B9D8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DC028397-E323-0B3A-97DD-9D12FA079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930" y="6347762"/>
            <a:ext cx="2545261" cy="522390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929E2E1B-FDF1-4FE2-ACDF-19B97DD45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69"/>
            <a:ext cx="9144000" cy="6845300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773AEFEE-4DCE-4446-BC8B-5B180C83FD11}"/>
              </a:ext>
            </a:extLst>
          </p:cNvPr>
          <p:cNvSpPr txBox="1"/>
          <p:nvPr/>
        </p:nvSpPr>
        <p:spPr>
          <a:xfrm>
            <a:off x="4914900" y="2932536"/>
            <a:ext cx="362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/>
              <a:t>Parallelizzazione e vettorizzazione di filtri di convoluzione su immagini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E75AE99-8EAC-CC89-F6AF-89FE6B13E222}"/>
              </a:ext>
            </a:extLst>
          </p:cNvPr>
          <p:cNvSpPr txBox="1"/>
          <p:nvPr/>
        </p:nvSpPr>
        <p:spPr>
          <a:xfrm>
            <a:off x="6524413" y="4590468"/>
            <a:ext cx="20201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1600" b="1" dirty="0">
                <a:latin typeface=""/>
              </a:rPr>
              <a:t>Lorenzo Cappellini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8A0672D1-363F-3654-5658-BEF01DEDA32A}"/>
              </a:ext>
            </a:extLst>
          </p:cNvPr>
          <p:cNvSpPr txBox="1"/>
          <p:nvPr/>
        </p:nvSpPr>
        <p:spPr>
          <a:xfrm>
            <a:off x="6183086" y="6474363"/>
            <a:ext cx="2244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"/>
              </a:rPr>
              <a:t>A.A. 2025/2026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0AB8EE7-F3CF-74A2-510D-4E397817445B}"/>
              </a:ext>
            </a:extLst>
          </p:cNvPr>
          <p:cNvSpPr txBox="1"/>
          <p:nvPr/>
        </p:nvSpPr>
        <p:spPr>
          <a:xfrm>
            <a:off x="1567543" y="2339173"/>
            <a:ext cx="6976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3200" b="1" dirty="0" err="1">
                <a:solidFill>
                  <a:srgbClr val="003257"/>
                </a:solidFill>
                <a:latin typeface=""/>
              </a:rPr>
              <a:t>Parallel</a:t>
            </a:r>
            <a:r>
              <a:rPr lang="it-IT" sz="3200" b="1" dirty="0">
                <a:solidFill>
                  <a:srgbClr val="003257"/>
                </a:solidFill>
                <a:latin typeface=""/>
              </a:rPr>
              <a:t> Kernel Image Processing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B2DBAB-C803-2C06-948A-E439453C1852}"/>
              </a:ext>
            </a:extLst>
          </p:cNvPr>
          <p:cNvSpPr txBox="1"/>
          <p:nvPr/>
        </p:nvSpPr>
        <p:spPr>
          <a:xfrm>
            <a:off x="6796923" y="4951975"/>
            <a:ext cx="174759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latin typeface="Arial"/>
              </a:defRPr>
            </a:pPr>
            <a:r>
              <a:rPr dirty="0"/>
              <a:t>Parallel Computing</a:t>
            </a:r>
          </a:p>
        </p:txBody>
      </p:sp>
    </p:spTree>
    <p:extLst>
      <p:ext uri="{BB962C8B-B14F-4D97-AF65-F5344CB8AC3E}">
        <p14:creationId xmlns:p14="http://schemas.microsoft.com/office/powerpoint/2010/main" val="2142597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07"/>
            <a:ext cx="9180512" cy="6872633"/>
          </a:xfrm>
          <a:prstGeom prst="rect">
            <a:avLst/>
          </a:prstGeom>
        </p:spPr>
      </p:pic>
      <p:sp>
        <p:nvSpPr>
          <p:cNvPr id="12" name="Rettangolo 11"/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/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2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0" name="CasellaDiTesto 9"/>
          <p:cNvSpPr txBox="1"/>
          <p:nvPr/>
        </p:nvSpPr>
        <p:spPr>
          <a:xfrm>
            <a:off x="7365999" y="51433"/>
            <a:ext cx="13278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800" b="1" dirty="0" err="1">
                <a:solidFill>
                  <a:schemeClr val="bg1"/>
                </a:solidFill>
                <a:latin typeface="Arial"/>
                <a:cs typeface="Arial"/>
              </a:rPr>
              <a:t>Parallel</a:t>
            </a:r>
            <a:r>
              <a:rPr lang="it-IT" sz="800" b="1" dirty="0">
                <a:solidFill>
                  <a:schemeClr val="bg1"/>
                </a:solidFill>
                <a:latin typeface="Arial"/>
                <a:cs typeface="Arial"/>
              </a:rPr>
              <a:t> Kernel Image Processing</a:t>
            </a:r>
          </a:p>
        </p:txBody>
      </p:sp>
      <p:sp>
        <p:nvSpPr>
          <p:cNvPr id="14" name="CasellaDiTesto 13"/>
          <p:cNvSpPr txBox="1"/>
          <p:nvPr/>
        </p:nvSpPr>
        <p:spPr>
          <a:xfrm>
            <a:off x="7648765" y="403482"/>
            <a:ext cx="10550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800" dirty="0" err="1">
                <a:solidFill>
                  <a:schemeClr val="bg1"/>
                </a:solidFill>
                <a:latin typeface="Arial"/>
                <a:cs typeface="Arial"/>
              </a:rPr>
              <a:t>Parallel</a:t>
            </a:r>
            <a:r>
              <a:rPr lang="it-IT" sz="800" dirty="0">
                <a:solidFill>
                  <a:schemeClr val="bg1"/>
                </a:solidFill>
                <a:latin typeface="Arial"/>
                <a:cs typeface="Arial"/>
              </a:rPr>
              <a:t> Computing</a:t>
            </a:r>
          </a:p>
        </p:txBody>
      </p:sp>
      <p:sp>
        <p:nvSpPr>
          <p:cNvPr id="6" name="Titolo">
            <a:extLst>
              <a:ext uri="{FF2B5EF4-FFF2-40B4-BE49-F238E27FC236}">
                <a16:creationId xmlns:a16="http://schemas.microsoft.com/office/drawing/2014/main" id="{8FD354A1-A50E-D71A-B76D-3ECFD5A1A648}"/>
              </a:ext>
            </a:extLst>
          </p:cNvPr>
          <p:cNvSpPr txBox="1"/>
          <p:nvPr/>
        </p:nvSpPr>
        <p:spPr>
          <a:xfrm>
            <a:off x="582704" y="942458"/>
            <a:ext cx="7819027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it-IT" sz="2600" b="1" dirty="0">
                <a:solidFill>
                  <a:srgbClr val="003053"/>
                </a:solidFill>
                <a:latin typeface="Arial"/>
                <a:cs typeface="Arial"/>
              </a:rPr>
              <a:t>Obiettivo</a:t>
            </a:r>
          </a:p>
        </p:txBody>
      </p:sp>
      <p:sp>
        <p:nvSpPr>
          <p:cNvPr id="15" name="Corpo">
            <a:extLst>
              <a:ext uri="{FF2B5EF4-FFF2-40B4-BE49-F238E27FC236}">
                <a16:creationId xmlns:a16="http://schemas.microsoft.com/office/drawing/2014/main" id="{F082DA0A-FCEB-0999-92DE-A8D6A1D322C0}"/>
              </a:ext>
            </a:extLst>
          </p:cNvPr>
          <p:cNvSpPr txBox="1"/>
          <p:nvPr/>
        </p:nvSpPr>
        <p:spPr>
          <a:xfrm>
            <a:off x="584753" y="1725648"/>
            <a:ext cx="7574997" cy="360992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Implementare </a:t>
            </a:r>
            <a:r>
              <a:rPr lang="it-IT" sz="1500" b="1" dirty="0">
                <a:latin typeface="Arial"/>
                <a:cs typeface="Arial"/>
              </a:rPr>
              <a:t>algoritmo di convoluzione </a:t>
            </a:r>
            <a:r>
              <a:rPr lang="it-IT" sz="1500" b="0" dirty="0">
                <a:latin typeface="Arial"/>
                <a:cs typeface="Arial"/>
              </a:rPr>
              <a:t>tra immagini e Kernel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dirty="0">
                <a:latin typeface="Arial"/>
                <a:cs typeface="Arial"/>
              </a:rPr>
              <a:t>A</a:t>
            </a:r>
            <a:r>
              <a:rPr lang="it-IT" sz="1500" b="0" dirty="0">
                <a:latin typeface="Arial"/>
                <a:cs typeface="Arial"/>
              </a:rPr>
              <a:t>pplicare </a:t>
            </a:r>
            <a:r>
              <a:rPr lang="it-IT" sz="1500" b="1" dirty="0">
                <a:latin typeface="Arial"/>
                <a:cs typeface="Arial"/>
              </a:rPr>
              <a:t>tecniche di parallelizzazione e vettorizzazione </a:t>
            </a:r>
            <a:r>
              <a:rPr lang="it-IT" sz="1500" b="0" dirty="0">
                <a:latin typeface="Arial"/>
                <a:cs typeface="Arial"/>
              </a:rPr>
              <a:t>per velocizzare l’esecuzione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Arial"/>
                <a:cs typeface="Arial"/>
              </a:rPr>
              <a:t>Verificare le prestazioni </a:t>
            </a:r>
            <a:r>
              <a:rPr lang="it-IT" sz="1500" b="0" dirty="0">
                <a:latin typeface="Arial"/>
                <a:cs typeface="Arial"/>
              </a:rPr>
              <a:t>delle </a:t>
            </a:r>
            <a:r>
              <a:rPr lang="it-IT" sz="1500" dirty="0">
                <a:latin typeface="Arial"/>
                <a:cs typeface="Arial"/>
              </a:rPr>
              <a:t>tecniche utilizzate → m</a:t>
            </a:r>
            <a:r>
              <a:rPr lang="it-IT" sz="1500" b="0" dirty="0">
                <a:latin typeface="Arial"/>
                <a:cs typeface="Arial"/>
              </a:rPr>
              <a:t>isurare i tempi e valutare gli approcci in termini di </a:t>
            </a:r>
            <a:r>
              <a:rPr lang="it-IT" sz="1500" b="1" i="1" dirty="0" err="1">
                <a:latin typeface="Arial"/>
                <a:cs typeface="Arial"/>
              </a:rPr>
              <a:t>speedup</a:t>
            </a:r>
            <a:endParaRPr lang="it-IT" sz="1500" b="1" i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643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4C766-F50F-5094-8C37-A89A4B327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E4853B40-83E5-5288-63CB-C24498B51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07"/>
            <a:ext cx="9180512" cy="6872633"/>
          </a:xfrm>
          <a:prstGeom prst="rect">
            <a:avLst/>
          </a:prstGeom>
        </p:spPr>
      </p:pic>
      <p:sp>
        <p:nvSpPr>
          <p:cNvPr id="12" name="Rettangolo 11">
            <a:extLst>
              <a:ext uri="{FF2B5EF4-FFF2-40B4-BE49-F238E27FC236}">
                <a16:creationId xmlns:a16="http://schemas.microsoft.com/office/drawing/2014/main" id="{994D3979-5820-B4CE-C5C1-6CB41AF1A5FA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0F59C011-4C44-A279-6138-9D600E19E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3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3" name="Titolo">
            <a:extLst>
              <a:ext uri="{FF2B5EF4-FFF2-40B4-BE49-F238E27FC236}">
                <a16:creationId xmlns:a16="http://schemas.microsoft.com/office/drawing/2014/main" id="{5DD08796-7761-99C8-4CAA-F6CF3764D3CC}"/>
              </a:ext>
            </a:extLst>
          </p:cNvPr>
          <p:cNvSpPr txBox="1"/>
          <p:nvPr/>
        </p:nvSpPr>
        <p:spPr>
          <a:xfrm>
            <a:off x="582704" y="942458"/>
            <a:ext cx="7819027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it-IT" sz="2600" b="1" dirty="0">
                <a:solidFill>
                  <a:srgbClr val="003053"/>
                </a:solidFill>
                <a:latin typeface="Arial"/>
                <a:cs typeface="Arial"/>
              </a:rPr>
              <a:t>Kernel di convoluzione</a:t>
            </a:r>
          </a:p>
        </p:txBody>
      </p:sp>
      <p:sp>
        <p:nvSpPr>
          <p:cNvPr id="17" name="Corpo">
            <a:extLst>
              <a:ext uri="{FF2B5EF4-FFF2-40B4-BE49-F238E27FC236}">
                <a16:creationId xmlns:a16="http://schemas.microsoft.com/office/drawing/2014/main" id="{4F1D1DFD-5D7D-3EDB-7874-53DF9890860E}"/>
              </a:ext>
            </a:extLst>
          </p:cNvPr>
          <p:cNvSpPr txBox="1"/>
          <p:nvPr/>
        </p:nvSpPr>
        <p:spPr>
          <a:xfrm>
            <a:off x="582704" y="1615652"/>
            <a:ext cx="4628597" cy="366119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Formula: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endParaRPr lang="it-IT" sz="1500" dirty="0">
              <a:latin typeface="Arial"/>
              <a:cs typeface="Arial"/>
            </a:endParaRP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endParaRPr lang="it-IT" sz="1500" b="0" dirty="0">
              <a:latin typeface="Arial"/>
              <a:cs typeface="Arial"/>
            </a:endParaRP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endParaRPr lang="it-IT" sz="1500" b="0" dirty="0">
              <a:latin typeface="Arial"/>
              <a:cs typeface="Arial"/>
            </a:endParaRP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Pixel di output calcolato </a:t>
            </a:r>
            <a:r>
              <a:rPr lang="it-IT" sz="1500" dirty="0">
                <a:latin typeface="Arial"/>
                <a:cs typeface="Arial"/>
              </a:rPr>
              <a:t>come </a:t>
            </a:r>
            <a:r>
              <a:rPr lang="it-IT" sz="1500" b="1" dirty="0">
                <a:latin typeface="Arial"/>
                <a:cs typeface="Arial"/>
              </a:rPr>
              <a:t>combinazione pesata</a:t>
            </a:r>
            <a:r>
              <a:rPr lang="it-IT" sz="1500" dirty="0">
                <a:latin typeface="Arial"/>
                <a:cs typeface="Arial"/>
              </a:rPr>
              <a:t> dei valori del pixel in input</a:t>
            </a:r>
            <a:endParaRPr lang="it-IT" sz="1500" b="0" dirty="0">
              <a:latin typeface="Arial"/>
              <a:cs typeface="Arial"/>
            </a:endParaRP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i="1" dirty="0">
                <a:latin typeface="Arial"/>
                <a:cs typeface="Arial"/>
              </a:rPr>
              <a:t>Kernel</a:t>
            </a:r>
            <a:r>
              <a:rPr lang="it-IT" sz="1500" b="0" dirty="0">
                <a:latin typeface="Arial"/>
                <a:cs typeface="Arial"/>
              </a:rPr>
              <a:t> </a:t>
            </a:r>
            <a:r>
              <a:rPr lang="it-IT" sz="1500" dirty="0">
                <a:latin typeface="Arial"/>
                <a:cs typeface="Arial"/>
              </a:rPr>
              <a:t>→ matrice quadrata </a:t>
            </a:r>
            <a:r>
              <a:rPr lang="it-IT" sz="1500" b="0" i="1" dirty="0">
                <a:latin typeface="Arial"/>
                <a:cs typeface="Arial"/>
              </a:rPr>
              <a:t>K</a:t>
            </a:r>
            <a:r>
              <a:rPr lang="it-IT" sz="1500" b="0" dirty="0">
                <a:latin typeface="Arial"/>
                <a:cs typeface="Arial"/>
              </a:rPr>
              <a:t>×</a:t>
            </a:r>
            <a:r>
              <a:rPr lang="it-IT" sz="1500" b="0" i="1" dirty="0">
                <a:latin typeface="Arial"/>
                <a:cs typeface="Arial"/>
              </a:rPr>
              <a:t>K</a:t>
            </a:r>
            <a:r>
              <a:rPr lang="it-IT" sz="1500" b="0" dirty="0">
                <a:latin typeface="Arial"/>
                <a:cs typeface="Arial"/>
              </a:rPr>
              <a:t> con </a:t>
            </a:r>
            <a:r>
              <a:rPr lang="it-IT" sz="1500" b="1" dirty="0">
                <a:latin typeface="Arial"/>
                <a:cs typeface="Arial"/>
              </a:rPr>
              <a:t>coefficienti</a:t>
            </a:r>
            <a:r>
              <a:rPr lang="it-IT" sz="1500" b="0" dirty="0">
                <a:latin typeface="Arial"/>
                <a:cs typeface="Arial"/>
              </a:rPr>
              <a:t> </a:t>
            </a:r>
            <a:r>
              <a:rPr lang="it-IT" sz="1500" b="0" i="1" dirty="0">
                <a:latin typeface="Arial"/>
                <a:cs typeface="Arial"/>
              </a:rPr>
              <a:t>float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Filtri per immagini </a:t>
            </a:r>
            <a:r>
              <a:rPr lang="it-IT" sz="1500" dirty="0">
                <a:latin typeface="Arial"/>
                <a:cs typeface="Arial"/>
              </a:rPr>
              <a:t>→ </a:t>
            </a:r>
            <a:r>
              <a:rPr lang="it-IT" sz="1500" i="1" dirty="0" err="1">
                <a:latin typeface="Arial"/>
                <a:cs typeface="Arial"/>
              </a:rPr>
              <a:t>Gaussian</a:t>
            </a:r>
            <a:r>
              <a:rPr lang="it-IT" sz="1500" i="1" dirty="0">
                <a:latin typeface="Arial"/>
                <a:cs typeface="Arial"/>
              </a:rPr>
              <a:t> </a:t>
            </a:r>
            <a:r>
              <a:rPr lang="it-IT" sz="1500" i="1" dirty="0" err="1">
                <a:latin typeface="Arial"/>
                <a:cs typeface="Arial"/>
              </a:rPr>
              <a:t>blur</a:t>
            </a:r>
            <a:r>
              <a:rPr lang="it-IT" sz="1500" dirty="0">
                <a:latin typeface="Arial"/>
                <a:cs typeface="Arial"/>
              </a:rPr>
              <a:t>, </a:t>
            </a:r>
            <a:r>
              <a:rPr lang="it-IT" sz="1500" i="1" dirty="0" err="1">
                <a:latin typeface="Arial"/>
                <a:cs typeface="Arial"/>
              </a:rPr>
              <a:t>sharpening</a:t>
            </a:r>
            <a:r>
              <a:rPr lang="it-IT" sz="1500" dirty="0">
                <a:latin typeface="Arial"/>
                <a:cs typeface="Arial"/>
              </a:rPr>
              <a:t>, </a:t>
            </a:r>
            <a:r>
              <a:rPr lang="it-IT" sz="1500" b="1" i="1" dirty="0" err="1">
                <a:latin typeface="Arial"/>
                <a:cs typeface="Arial"/>
              </a:rPr>
              <a:t>edge</a:t>
            </a:r>
            <a:r>
              <a:rPr lang="it-IT" sz="1500" b="1" i="1" dirty="0">
                <a:latin typeface="Arial"/>
                <a:cs typeface="Arial"/>
              </a:rPr>
              <a:t> </a:t>
            </a:r>
            <a:r>
              <a:rPr lang="it-IT" sz="1500" b="1" i="1" dirty="0" err="1">
                <a:latin typeface="Arial"/>
                <a:cs typeface="Arial"/>
              </a:rPr>
              <a:t>detection</a:t>
            </a:r>
            <a:r>
              <a:rPr lang="it-IT" sz="1500" b="1" i="1" dirty="0">
                <a:latin typeface="Arial"/>
                <a:cs typeface="Arial"/>
              </a:rPr>
              <a:t> </a:t>
            </a:r>
            <a:r>
              <a:rPr lang="it-IT" sz="1500" b="1" i="1" dirty="0" err="1">
                <a:latin typeface="Arial"/>
                <a:cs typeface="Arial"/>
              </a:rPr>
              <a:t>effect</a:t>
            </a:r>
            <a:endParaRPr lang="it-IT" sz="1500" b="1" i="1" dirty="0">
              <a:latin typeface="Arial"/>
              <a:cs typeface="Arial"/>
            </a:endParaRP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Arial"/>
                <a:cs typeface="Arial"/>
              </a:rPr>
              <a:t>Pixel indipendenti </a:t>
            </a:r>
            <a:r>
              <a:rPr lang="it-IT" sz="1500" dirty="0">
                <a:latin typeface="Arial"/>
                <a:cs typeface="Arial"/>
              </a:rPr>
              <a:t>→ problema altamente </a:t>
            </a:r>
            <a:r>
              <a:rPr lang="it-IT" sz="1500" b="1" dirty="0">
                <a:latin typeface="Arial"/>
                <a:cs typeface="Arial"/>
              </a:rPr>
              <a:t>parallelizzabile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B165BE3-EFBE-0933-2112-A3BC7E747E62}"/>
                  </a:ext>
                </a:extLst>
              </p:cNvPr>
              <p:cNvSpPr txBox="1"/>
              <p:nvPr/>
            </p:nvSpPr>
            <p:spPr>
              <a:xfrm>
                <a:off x="922152" y="2029787"/>
                <a:ext cx="3949700" cy="6301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it-IT" sz="140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it-IT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it-IT" sz="1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1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it-IT" sz="1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140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1400" i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it-IT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1400" i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sz="1400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it-IT" sz="140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it-IT" sz="1400" i="0">
                              <a:latin typeface="Cambria Math" panose="02040503050406030204" pitchFamily="18" charset="0"/>
                            </a:rPr>
                            <m:t>​</m:t>
                          </m:r>
                        </m:e>
                      </m:nary>
                      <m:nary>
                        <m:naryPr>
                          <m:chr m:val="∑"/>
                          <m:limLoc m:val="undOvr"/>
                          <m:ctrlPr>
                            <a:rPr lang="it-IT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it-IT" sz="1400" i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sz="1400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it-IT" sz="140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it-IT" sz="1400" i="0">
                              <a:latin typeface="Cambria Math" panose="02040503050406030204" pitchFamily="18" charset="0"/>
                            </a:rPr>
                            <m:t>​</m:t>
                          </m:r>
                        </m:e>
                      </m:nary>
                      <m:r>
                        <a:rPr lang="it-IT" sz="140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it-IT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it-IT" sz="14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14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it-IT" sz="140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it-IT" sz="1400" i="0">
                              <a:latin typeface="Cambria Math" panose="02040503050406030204" pitchFamily="18" charset="0"/>
                            </a:rPr>
                            <m:t>, </m:t>
                          </m:r>
                          <m:r>
                            <a:rPr lang="it-IT" sz="1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it-IT" sz="14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it-IT" sz="14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it-IT" sz="1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it-IT" sz="1400" i="0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it-IT" sz="1400" i="1"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it-IT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1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it-IT" sz="1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B165BE3-EFBE-0933-2112-A3BC7E747E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152" y="2029787"/>
                <a:ext cx="3949700" cy="630173"/>
              </a:xfrm>
              <a:prstGeom prst="rect">
                <a:avLst/>
              </a:prstGeom>
              <a:blipFill>
                <a:blip r:embed="rId4"/>
                <a:stretch>
                  <a:fillRect b="-9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3F35DA0-8B07-EF65-F035-FCB3EBA9E6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1778" y="1593194"/>
            <a:ext cx="3420473" cy="19240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6E618C-730F-6889-0342-CD8058540C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1777" y="3960246"/>
            <a:ext cx="3420471" cy="1924015"/>
          </a:xfrm>
          <a:prstGeom prst="rect">
            <a:avLst/>
          </a:prstGeom>
        </p:spPr>
      </p:pic>
      <p:sp>
        <p:nvSpPr>
          <p:cNvPr id="16" name="Corpo">
            <a:extLst>
              <a:ext uri="{FF2B5EF4-FFF2-40B4-BE49-F238E27FC236}">
                <a16:creationId xmlns:a16="http://schemas.microsoft.com/office/drawing/2014/main" id="{25B052A9-3985-3B0A-5873-1AC03CDED1CA}"/>
              </a:ext>
            </a:extLst>
          </p:cNvPr>
          <p:cNvSpPr txBox="1"/>
          <p:nvPr/>
        </p:nvSpPr>
        <p:spPr>
          <a:xfrm>
            <a:off x="5513975" y="3565365"/>
            <a:ext cx="3047319" cy="28183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ts val="600"/>
              </a:spcBef>
            </a:pPr>
            <a:r>
              <a:rPr lang="it-IT" sz="1100" b="0" dirty="0">
                <a:latin typeface="Arial"/>
                <a:cs typeface="Arial"/>
              </a:rPr>
              <a:t>Immagine originale</a:t>
            </a:r>
            <a:endParaRPr lang="it-IT" sz="1050" b="0" i="1" dirty="0">
              <a:latin typeface="Arial"/>
              <a:cs typeface="Arial"/>
            </a:endParaRPr>
          </a:p>
        </p:txBody>
      </p:sp>
      <p:sp>
        <p:nvSpPr>
          <p:cNvPr id="20" name="Corpo">
            <a:extLst>
              <a:ext uri="{FF2B5EF4-FFF2-40B4-BE49-F238E27FC236}">
                <a16:creationId xmlns:a16="http://schemas.microsoft.com/office/drawing/2014/main" id="{0724D7DF-108F-DE09-97A8-7AD17E72D813}"/>
              </a:ext>
            </a:extLst>
          </p:cNvPr>
          <p:cNvSpPr txBox="1"/>
          <p:nvPr/>
        </p:nvSpPr>
        <p:spPr>
          <a:xfrm>
            <a:off x="5513976" y="5928544"/>
            <a:ext cx="3047319" cy="42158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ts val="600"/>
              </a:spcBef>
            </a:pPr>
            <a:r>
              <a:rPr lang="it-IT" sz="1100" b="0" dirty="0">
                <a:latin typeface="Arial"/>
                <a:cs typeface="Arial"/>
              </a:rPr>
              <a:t>Immagine dopo l’applicazione del </a:t>
            </a:r>
            <a:r>
              <a:rPr lang="it-IT" sz="1100" b="0" i="1" dirty="0">
                <a:latin typeface="Arial"/>
                <a:cs typeface="Arial"/>
              </a:rPr>
              <a:t>kernel</a:t>
            </a:r>
            <a:r>
              <a:rPr lang="it-IT" sz="1100" b="0" dirty="0">
                <a:latin typeface="Arial"/>
                <a:cs typeface="Arial"/>
              </a:rPr>
              <a:t> di </a:t>
            </a:r>
            <a:r>
              <a:rPr lang="it-IT" sz="1100" b="0" i="1" dirty="0" err="1">
                <a:latin typeface="Arial"/>
                <a:cs typeface="Arial"/>
              </a:rPr>
              <a:t>edge</a:t>
            </a:r>
            <a:r>
              <a:rPr lang="it-IT" sz="1100" b="0" i="1" dirty="0">
                <a:latin typeface="Arial"/>
                <a:cs typeface="Arial"/>
              </a:rPr>
              <a:t> </a:t>
            </a:r>
            <a:r>
              <a:rPr lang="it-IT" sz="1100" b="0" i="1" dirty="0" err="1">
                <a:latin typeface="Arial"/>
                <a:cs typeface="Arial"/>
              </a:rPr>
              <a:t>detection</a:t>
            </a:r>
            <a:endParaRPr lang="it-IT" sz="1050" b="0" i="1" dirty="0">
              <a:latin typeface="Arial"/>
              <a:cs typeface="Arial"/>
            </a:endParaRPr>
          </a:p>
        </p:txBody>
      </p:sp>
      <p:sp>
        <p:nvSpPr>
          <p:cNvPr id="22" name="CasellaDiTesto 9">
            <a:extLst>
              <a:ext uri="{FF2B5EF4-FFF2-40B4-BE49-F238E27FC236}">
                <a16:creationId xmlns:a16="http://schemas.microsoft.com/office/drawing/2014/main" id="{527999E8-EC10-A68E-4A1A-D97D1D19C8E0}"/>
              </a:ext>
            </a:extLst>
          </p:cNvPr>
          <p:cNvSpPr txBox="1"/>
          <p:nvPr/>
        </p:nvSpPr>
        <p:spPr>
          <a:xfrm>
            <a:off x="7365999" y="51433"/>
            <a:ext cx="13278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800" b="1" dirty="0" err="1">
                <a:solidFill>
                  <a:schemeClr val="bg1"/>
                </a:solidFill>
                <a:latin typeface="Arial"/>
                <a:cs typeface="Arial"/>
              </a:rPr>
              <a:t>Parallel</a:t>
            </a:r>
            <a:r>
              <a:rPr lang="it-IT" sz="800" b="1" dirty="0">
                <a:solidFill>
                  <a:schemeClr val="bg1"/>
                </a:solidFill>
                <a:latin typeface="Arial"/>
                <a:cs typeface="Arial"/>
              </a:rPr>
              <a:t> Kernel Image Processing</a:t>
            </a:r>
          </a:p>
        </p:txBody>
      </p:sp>
      <p:sp>
        <p:nvSpPr>
          <p:cNvPr id="24" name="CasellaDiTesto 13">
            <a:extLst>
              <a:ext uri="{FF2B5EF4-FFF2-40B4-BE49-F238E27FC236}">
                <a16:creationId xmlns:a16="http://schemas.microsoft.com/office/drawing/2014/main" id="{5FD65D3C-2D23-E3E0-2E8B-D38A9E166780}"/>
              </a:ext>
            </a:extLst>
          </p:cNvPr>
          <p:cNvSpPr txBox="1"/>
          <p:nvPr/>
        </p:nvSpPr>
        <p:spPr>
          <a:xfrm>
            <a:off x="7648765" y="403482"/>
            <a:ext cx="10550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800" dirty="0" err="1">
                <a:solidFill>
                  <a:schemeClr val="bg1"/>
                </a:solidFill>
                <a:latin typeface="Arial"/>
                <a:cs typeface="Arial"/>
              </a:rPr>
              <a:t>Parallel</a:t>
            </a:r>
            <a:r>
              <a:rPr lang="it-IT" sz="800" dirty="0">
                <a:solidFill>
                  <a:schemeClr val="bg1"/>
                </a:solidFill>
                <a:latin typeface="Arial"/>
                <a:cs typeface="Arial"/>
              </a:rPr>
              <a:t> Computing</a:t>
            </a:r>
          </a:p>
        </p:txBody>
      </p:sp>
    </p:spTree>
    <p:extLst>
      <p:ext uri="{BB962C8B-B14F-4D97-AF65-F5344CB8AC3E}">
        <p14:creationId xmlns:p14="http://schemas.microsoft.com/office/powerpoint/2010/main" val="1748803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2E900-11F9-CA60-DEB0-FA03C3593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41F8C08E-74AD-9632-FBF4-61BC063E3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07"/>
            <a:ext cx="9180512" cy="6872633"/>
          </a:xfrm>
          <a:prstGeom prst="rect">
            <a:avLst/>
          </a:prstGeom>
        </p:spPr>
      </p:pic>
      <p:sp>
        <p:nvSpPr>
          <p:cNvPr id="12" name="Rettangolo 11">
            <a:extLst>
              <a:ext uri="{FF2B5EF4-FFF2-40B4-BE49-F238E27FC236}">
                <a16:creationId xmlns:a16="http://schemas.microsoft.com/office/drawing/2014/main" id="{BDCC16B4-C217-D138-3DA2-3CEEC9890838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BEC847A5-1524-1EC9-04CF-202D3517B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4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" name="Titolo">
            <a:extLst>
              <a:ext uri="{FF2B5EF4-FFF2-40B4-BE49-F238E27FC236}">
                <a16:creationId xmlns:a16="http://schemas.microsoft.com/office/drawing/2014/main" id="{2024AA14-84C6-AF12-FBFB-F1678D3E6D25}"/>
              </a:ext>
            </a:extLst>
          </p:cNvPr>
          <p:cNvSpPr txBox="1"/>
          <p:nvPr/>
        </p:nvSpPr>
        <p:spPr>
          <a:xfrm>
            <a:off x="582704" y="942458"/>
            <a:ext cx="7819027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it-IT" sz="2600" b="1" dirty="0">
                <a:solidFill>
                  <a:srgbClr val="003053"/>
                </a:solidFill>
                <a:latin typeface="Arial"/>
                <a:cs typeface="Arial"/>
              </a:rPr>
              <a:t>Flusso del programma</a:t>
            </a:r>
          </a:p>
        </p:txBody>
      </p:sp>
      <p:sp>
        <p:nvSpPr>
          <p:cNvPr id="6" name="Corpo">
            <a:extLst>
              <a:ext uri="{FF2B5EF4-FFF2-40B4-BE49-F238E27FC236}">
                <a16:creationId xmlns:a16="http://schemas.microsoft.com/office/drawing/2014/main" id="{512FAA52-6D58-8648-9A24-5BBF09556AF5}"/>
              </a:ext>
            </a:extLst>
          </p:cNvPr>
          <p:cNvSpPr txBox="1"/>
          <p:nvPr/>
        </p:nvSpPr>
        <p:spPr>
          <a:xfrm>
            <a:off x="584754" y="1725648"/>
            <a:ext cx="6497262" cy="317655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Caricamento immagini (formato </a:t>
            </a:r>
            <a:r>
              <a:rPr lang="it-IT" sz="1500" b="0" i="1" dirty="0">
                <a:latin typeface="Arial"/>
                <a:cs typeface="Arial"/>
              </a:rPr>
              <a:t>.</a:t>
            </a:r>
            <a:r>
              <a:rPr lang="it-IT" sz="1500" b="0" i="1" dirty="0" err="1">
                <a:latin typeface="Arial"/>
                <a:cs typeface="Arial"/>
              </a:rPr>
              <a:t>bmp</a:t>
            </a:r>
            <a:r>
              <a:rPr lang="it-IT" sz="1500" b="0" dirty="0">
                <a:latin typeface="Arial"/>
                <a:cs typeface="Arial"/>
              </a:rPr>
              <a:t>)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Avvio algoritmo di </a:t>
            </a:r>
            <a:r>
              <a:rPr lang="it-IT" sz="1500" b="1" dirty="0">
                <a:latin typeface="Arial"/>
                <a:cs typeface="Arial"/>
              </a:rPr>
              <a:t>convoluzione</a:t>
            </a:r>
            <a:r>
              <a:rPr lang="it-IT" sz="1500" b="0" dirty="0">
                <a:latin typeface="Arial"/>
                <a:cs typeface="Arial"/>
              </a:rPr>
              <a:t> nella configurazione prestabilita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Misurazione del </a:t>
            </a:r>
            <a:r>
              <a:rPr lang="it-IT" sz="1500" b="1" dirty="0">
                <a:latin typeface="Arial"/>
                <a:cs typeface="Arial"/>
              </a:rPr>
              <a:t>tempo impiegato </a:t>
            </a:r>
            <a:r>
              <a:rPr lang="it-IT" sz="1500" b="0" dirty="0">
                <a:latin typeface="Arial"/>
                <a:cs typeface="Arial"/>
              </a:rPr>
              <a:t>(</a:t>
            </a:r>
            <a:r>
              <a:rPr lang="en-US" sz="1500" i="1" dirty="0">
                <a:latin typeface="Arial"/>
                <a:cs typeface="Arial"/>
              </a:rPr>
              <a:t>std::chrono::</a:t>
            </a:r>
            <a:r>
              <a:rPr lang="en-US" sz="1500" i="1" dirty="0" err="1">
                <a:latin typeface="Arial"/>
                <a:cs typeface="Arial"/>
              </a:rPr>
              <a:t>high_resolution_clock</a:t>
            </a:r>
            <a:r>
              <a:rPr lang="it-IT" sz="1500" b="0" dirty="0">
                <a:latin typeface="Arial"/>
                <a:cs typeface="Arial"/>
              </a:rPr>
              <a:t>)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Arial"/>
                <a:cs typeface="Arial"/>
              </a:rPr>
              <a:t>Ripetizione</a:t>
            </a:r>
            <a:r>
              <a:rPr lang="it-IT" sz="1500" b="0" dirty="0">
                <a:latin typeface="Arial"/>
                <a:cs typeface="Arial"/>
              </a:rPr>
              <a:t> dell’operazione (e misurazione) più volte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dirty="0">
                <a:latin typeface="Arial"/>
                <a:cs typeface="Arial"/>
              </a:rPr>
              <a:t>S</a:t>
            </a:r>
            <a:r>
              <a:rPr lang="it-IT" sz="1500" b="0" dirty="0">
                <a:latin typeface="Arial"/>
                <a:cs typeface="Arial"/>
              </a:rPr>
              <a:t>alvataggio tempi in </a:t>
            </a:r>
            <a:r>
              <a:rPr lang="it-IT" sz="1500" dirty="0">
                <a:latin typeface="Arial"/>
                <a:cs typeface="Arial"/>
              </a:rPr>
              <a:t>un file </a:t>
            </a:r>
            <a:r>
              <a:rPr lang="it-IT" sz="1500" i="1" dirty="0">
                <a:latin typeface="Arial"/>
                <a:cs typeface="Arial"/>
              </a:rPr>
              <a:t>.csv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endParaRPr lang="it-IT" sz="1500" b="0" i="1" dirty="0">
              <a:latin typeface="Arial"/>
              <a:cs typeface="Arial"/>
            </a:endParaRP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Creazione </a:t>
            </a:r>
            <a:r>
              <a:rPr lang="it-IT" sz="1500" b="1" dirty="0">
                <a:latin typeface="Arial"/>
                <a:cs typeface="Arial"/>
              </a:rPr>
              <a:t>grafici</a:t>
            </a:r>
            <a:r>
              <a:rPr lang="it-IT" sz="1500" b="0" dirty="0">
                <a:latin typeface="Arial"/>
                <a:cs typeface="Arial"/>
              </a:rPr>
              <a:t> con script Python</a:t>
            </a:r>
          </a:p>
        </p:txBody>
      </p:sp>
      <p:sp>
        <p:nvSpPr>
          <p:cNvPr id="13" name="CasellaDiTesto 9">
            <a:extLst>
              <a:ext uri="{FF2B5EF4-FFF2-40B4-BE49-F238E27FC236}">
                <a16:creationId xmlns:a16="http://schemas.microsoft.com/office/drawing/2014/main" id="{61F09872-3B1E-4446-9A42-D77921E53261}"/>
              </a:ext>
            </a:extLst>
          </p:cNvPr>
          <p:cNvSpPr txBox="1"/>
          <p:nvPr/>
        </p:nvSpPr>
        <p:spPr>
          <a:xfrm>
            <a:off x="7365999" y="51433"/>
            <a:ext cx="13278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800" b="1" dirty="0" err="1">
                <a:solidFill>
                  <a:schemeClr val="bg1"/>
                </a:solidFill>
                <a:latin typeface="Arial"/>
                <a:cs typeface="Arial"/>
              </a:rPr>
              <a:t>Parallel</a:t>
            </a:r>
            <a:r>
              <a:rPr lang="it-IT" sz="800" b="1" dirty="0">
                <a:solidFill>
                  <a:schemeClr val="bg1"/>
                </a:solidFill>
                <a:latin typeface="Arial"/>
                <a:cs typeface="Arial"/>
              </a:rPr>
              <a:t> Kernel Image Processing</a:t>
            </a:r>
          </a:p>
        </p:txBody>
      </p:sp>
      <p:sp>
        <p:nvSpPr>
          <p:cNvPr id="16" name="CasellaDiTesto 13">
            <a:extLst>
              <a:ext uri="{FF2B5EF4-FFF2-40B4-BE49-F238E27FC236}">
                <a16:creationId xmlns:a16="http://schemas.microsoft.com/office/drawing/2014/main" id="{B9BFDE35-9209-1554-D964-01A891B397F0}"/>
              </a:ext>
            </a:extLst>
          </p:cNvPr>
          <p:cNvSpPr txBox="1"/>
          <p:nvPr/>
        </p:nvSpPr>
        <p:spPr>
          <a:xfrm>
            <a:off x="7648765" y="403482"/>
            <a:ext cx="10550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800" dirty="0" err="1">
                <a:solidFill>
                  <a:schemeClr val="bg1"/>
                </a:solidFill>
                <a:latin typeface="Arial"/>
                <a:cs typeface="Arial"/>
              </a:rPr>
              <a:t>Parallel</a:t>
            </a:r>
            <a:r>
              <a:rPr lang="it-IT" sz="800" dirty="0">
                <a:solidFill>
                  <a:schemeClr val="bg1"/>
                </a:solidFill>
                <a:latin typeface="Arial"/>
                <a:cs typeface="Arial"/>
              </a:rPr>
              <a:t> Computing</a:t>
            </a:r>
          </a:p>
        </p:txBody>
      </p:sp>
    </p:spTree>
    <p:extLst>
      <p:ext uri="{BB962C8B-B14F-4D97-AF65-F5344CB8AC3E}">
        <p14:creationId xmlns:p14="http://schemas.microsoft.com/office/powerpoint/2010/main" val="1128106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30C06-B5F9-C553-EF97-4B71212C5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14EDDE8E-AC9F-7C70-B4F6-BE8D35E76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07"/>
            <a:ext cx="9180512" cy="6872633"/>
          </a:xfrm>
          <a:prstGeom prst="rect">
            <a:avLst/>
          </a:prstGeom>
        </p:spPr>
      </p:pic>
      <p:sp>
        <p:nvSpPr>
          <p:cNvPr id="12" name="Rettangolo 11">
            <a:extLst>
              <a:ext uri="{FF2B5EF4-FFF2-40B4-BE49-F238E27FC236}">
                <a16:creationId xmlns:a16="http://schemas.microsoft.com/office/drawing/2014/main" id="{65134390-D9C4-AB03-1DDF-84A4888AA2AD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84EBC677-C34B-7DCE-75A1-DCC8D28BB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5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" name="Titolo">
            <a:extLst>
              <a:ext uri="{FF2B5EF4-FFF2-40B4-BE49-F238E27FC236}">
                <a16:creationId xmlns:a16="http://schemas.microsoft.com/office/drawing/2014/main" id="{980038D2-912E-0FFC-7CFE-BF9E6C9B9FCA}"/>
              </a:ext>
            </a:extLst>
          </p:cNvPr>
          <p:cNvSpPr txBox="1"/>
          <p:nvPr/>
        </p:nvSpPr>
        <p:spPr>
          <a:xfrm>
            <a:off x="582704" y="942458"/>
            <a:ext cx="7819027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it-IT" sz="2600" b="1" dirty="0">
                <a:solidFill>
                  <a:srgbClr val="003053"/>
                </a:solidFill>
                <a:latin typeface="Arial"/>
                <a:cs typeface="Arial"/>
              </a:rPr>
              <a:t>Approcci confrontati</a:t>
            </a:r>
          </a:p>
        </p:txBody>
      </p:sp>
      <p:sp>
        <p:nvSpPr>
          <p:cNvPr id="17" name="Corpo">
            <a:extLst>
              <a:ext uri="{FF2B5EF4-FFF2-40B4-BE49-F238E27FC236}">
                <a16:creationId xmlns:a16="http://schemas.microsoft.com/office/drawing/2014/main" id="{B6E8AB76-8F74-4432-83A8-40DC69642AC3}"/>
              </a:ext>
            </a:extLst>
          </p:cNvPr>
          <p:cNvSpPr txBox="1"/>
          <p:nvPr/>
        </p:nvSpPr>
        <p:spPr>
          <a:xfrm>
            <a:off x="584753" y="1725648"/>
            <a:ext cx="7819027" cy="360992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i="1" dirty="0">
                <a:latin typeface="Arial"/>
                <a:cs typeface="Arial"/>
              </a:rPr>
              <a:t>Base</a:t>
            </a:r>
            <a:r>
              <a:rPr lang="it-IT" sz="1500" b="0" dirty="0">
                <a:latin typeface="Arial"/>
                <a:cs typeface="Arial"/>
              </a:rPr>
              <a:t> → algoritmo sequenziale (layout </a:t>
            </a:r>
            <a:r>
              <a:rPr lang="it-IT" sz="1500" b="0" i="1" dirty="0" err="1">
                <a:latin typeface="Arial"/>
                <a:cs typeface="Arial"/>
              </a:rPr>
              <a:t>AoS</a:t>
            </a:r>
            <a:r>
              <a:rPr lang="it-IT" sz="1500" b="0" dirty="0">
                <a:latin typeface="Arial"/>
                <a:cs typeface="Arial"/>
              </a:rPr>
              <a:t>)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i="1" dirty="0" err="1">
                <a:latin typeface="Arial"/>
                <a:cs typeface="Arial"/>
              </a:rPr>
              <a:t>OpenMP</a:t>
            </a:r>
            <a:r>
              <a:rPr lang="it-IT" sz="1500" b="0" dirty="0">
                <a:latin typeface="Arial"/>
                <a:cs typeface="Arial"/>
              </a:rPr>
              <a:t> → parallelismo </a:t>
            </a:r>
            <a:r>
              <a:rPr lang="it-IT" sz="1500" b="0" dirty="0" err="1">
                <a:latin typeface="Arial"/>
                <a:cs typeface="Arial"/>
              </a:rPr>
              <a:t>multithread</a:t>
            </a:r>
            <a:r>
              <a:rPr lang="it-IT" sz="1500" b="0" dirty="0">
                <a:latin typeface="Arial"/>
                <a:cs typeface="Arial"/>
              </a:rPr>
              <a:t> su CPU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i="1" dirty="0">
                <a:latin typeface="Arial"/>
                <a:cs typeface="Arial"/>
              </a:rPr>
              <a:t>AVX2</a:t>
            </a:r>
            <a:r>
              <a:rPr lang="it-IT" sz="1500" b="0" dirty="0">
                <a:latin typeface="Arial"/>
                <a:cs typeface="Arial"/>
              </a:rPr>
              <a:t> → parallelismo con vettorizzazione SIMD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i="1" dirty="0" err="1">
                <a:latin typeface="Arial"/>
                <a:cs typeface="Arial"/>
              </a:rPr>
              <a:t>OpenMP</a:t>
            </a:r>
            <a:r>
              <a:rPr lang="it-IT" sz="1500" b="1" i="1" dirty="0">
                <a:latin typeface="Arial"/>
                <a:cs typeface="Arial"/>
              </a:rPr>
              <a:t> + AVX2 </a:t>
            </a:r>
            <a:r>
              <a:rPr lang="it-IT" sz="1500" b="0" dirty="0">
                <a:latin typeface="Arial"/>
                <a:cs typeface="Arial"/>
              </a:rPr>
              <a:t>→ combinazione delle due tecniche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i="1" dirty="0">
                <a:latin typeface="Arial"/>
                <a:cs typeface="Arial"/>
              </a:rPr>
              <a:t>CUDA</a:t>
            </a:r>
            <a:r>
              <a:rPr lang="it-IT" sz="1500" b="0" dirty="0">
                <a:latin typeface="Arial"/>
                <a:cs typeface="Arial"/>
              </a:rPr>
              <a:t> → parallelismo su GPU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endParaRPr lang="it-IT" sz="1500" b="0" dirty="0">
              <a:latin typeface="Arial"/>
              <a:cs typeface="Arial"/>
            </a:endParaRP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i="1" dirty="0" err="1">
                <a:latin typeface="Arial"/>
                <a:cs typeface="Arial"/>
              </a:rPr>
              <a:t>AoS</a:t>
            </a:r>
            <a:r>
              <a:rPr lang="it-IT" sz="1500" b="1" i="1" dirty="0">
                <a:latin typeface="Arial"/>
                <a:cs typeface="Arial"/>
              </a:rPr>
              <a:t> vs </a:t>
            </a:r>
            <a:r>
              <a:rPr lang="it-IT" sz="1500" b="1" i="1" dirty="0" err="1">
                <a:latin typeface="Arial"/>
                <a:cs typeface="Arial"/>
              </a:rPr>
              <a:t>SoA</a:t>
            </a:r>
            <a:r>
              <a:rPr lang="it-IT" sz="1500" b="1" i="1" dirty="0">
                <a:latin typeface="Arial"/>
                <a:cs typeface="Arial"/>
              </a:rPr>
              <a:t> </a:t>
            </a:r>
            <a:r>
              <a:rPr lang="it-IT" sz="1500" b="0" dirty="0">
                <a:latin typeface="Arial"/>
                <a:cs typeface="Arial"/>
              </a:rPr>
              <a:t>→ </a:t>
            </a:r>
            <a:r>
              <a:rPr lang="it-IT" sz="1500" dirty="0">
                <a:latin typeface="Arial"/>
                <a:cs typeface="Arial"/>
              </a:rPr>
              <a:t>test aggiuntivo di </a:t>
            </a:r>
            <a:r>
              <a:rPr lang="it-IT" sz="1500" b="0" dirty="0">
                <a:latin typeface="Arial"/>
                <a:cs typeface="Arial"/>
              </a:rPr>
              <a:t>confronto dei due layout di memorizzazione delle immagini</a:t>
            </a:r>
          </a:p>
        </p:txBody>
      </p:sp>
      <p:sp>
        <p:nvSpPr>
          <p:cNvPr id="5" name="CasellaDiTesto 9">
            <a:extLst>
              <a:ext uri="{FF2B5EF4-FFF2-40B4-BE49-F238E27FC236}">
                <a16:creationId xmlns:a16="http://schemas.microsoft.com/office/drawing/2014/main" id="{0E863253-19EC-D6E2-7E11-F0ED5BF173B2}"/>
              </a:ext>
            </a:extLst>
          </p:cNvPr>
          <p:cNvSpPr txBox="1"/>
          <p:nvPr/>
        </p:nvSpPr>
        <p:spPr>
          <a:xfrm>
            <a:off x="7365999" y="51433"/>
            <a:ext cx="13278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800" b="1" dirty="0" err="1">
                <a:solidFill>
                  <a:schemeClr val="bg1"/>
                </a:solidFill>
                <a:latin typeface="Arial"/>
                <a:cs typeface="Arial"/>
              </a:rPr>
              <a:t>Parallel</a:t>
            </a:r>
            <a:r>
              <a:rPr lang="it-IT" sz="800" b="1" dirty="0">
                <a:solidFill>
                  <a:schemeClr val="bg1"/>
                </a:solidFill>
                <a:latin typeface="Arial"/>
                <a:cs typeface="Arial"/>
              </a:rPr>
              <a:t> Kernel Image Processing</a:t>
            </a:r>
          </a:p>
        </p:txBody>
      </p:sp>
      <p:sp>
        <p:nvSpPr>
          <p:cNvPr id="7" name="CasellaDiTesto 13">
            <a:extLst>
              <a:ext uri="{FF2B5EF4-FFF2-40B4-BE49-F238E27FC236}">
                <a16:creationId xmlns:a16="http://schemas.microsoft.com/office/drawing/2014/main" id="{FFABEDE1-AA3A-EB9C-CA61-7A615295BB3E}"/>
              </a:ext>
            </a:extLst>
          </p:cNvPr>
          <p:cNvSpPr txBox="1"/>
          <p:nvPr/>
        </p:nvSpPr>
        <p:spPr>
          <a:xfrm>
            <a:off x="7648765" y="403482"/>
            <a:ext cx="10550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800" dirty="0" err="1">
                <a:solidFill>
                  <a:schemeClr val="bg1"/>
                </a:solidFill>
                <a:latin typeface="Arial"/>
                <a:cs typeface="Arial"/>
              </a:rPr>
              <a:t>Parallel</a:t>
            </a:r>
            <a:r>
              <a:rPr lang="it-IT" sz="800" dirty="0">
                <a:solidFill>
                  <a:schemeClr val="bg1"/>
                </a:solidFill>
                <a:latin typeface="Arial"/>
                <a:cs typeface="Arial"/>
              </a:rPr>
              <a:t> Computing</a:t>
            </a:r>
          </a:p>
        </p:txBody>
      </p:sp>
    </p:spTree>
    <p:extLst>
      <p:ext uri="{BB962C8B-B14F-4D97-AF65-F5344CB8AC3E}">
        <p14:creationId xmlns:p14="http://schemas.microsoft.com/office/powerpoint/2010/main" val="2793149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A7475-4478-6A6B-BEA5-AD84C9033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317A9B19-8620-B3B8-C0B8-499E059A4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07"/>
            <a:ext cx="9180512" cy="6872633"/>
          </a:xfrm>
          <a:prstGeom prst="rect">
            <a:avLst/>
          </a:prstGeom>
        </p:spPr>
      </p:pic>
      <p:sp>
        <p:nvSpPr>
          <p:cNvPr id="12" name="Rettangolo 11">
            <a:extLst>
              <a:ext uri="{FF2B5EF4-FFF2-40B4-BE49-F238E27FC236}">
                <a16:creationId xmlns:a16="http://schemas.microsoft.com/office/drawing/2014/main" id="{AA237C74-6625-B28B-7867-322BC7CB796C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85B6F1AB-41FE-6EAB-A57E-89C5D2BAA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6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5" name="Titolo">
            <a:extLst>
              <a:ext uri="{FF2B5EF4-FFF2-40B4-BE49-F238E27FC236}">
                <a16:creationId xmlns:a16="http://schemas.microsoft.com/office/drawing/2014/main" id="{1F9D1C7E-54AA-9F5C-543D-1F575DD72806}"/>
              </a:ext>
            </a:extLst>
          </p:cNvPr>
          <p:cNvSpPr txBox="1"/>
          <p:nvPr/>
        </p:nvSpPr>
        <p:spPr>
          <a:xfrm>
            <a:off x="582704" y="942458"/>
            <a:ext cx="7819027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it-IT" sz="2600" b="1" dirty="0">
                <a:solidFill>
                  <a:srgbClr val="003053"/>
                </a:solidFill>
                <a:latin typeface="Arial"/>
                <a:cs typeface="Arial"/>
              </a:rPr>
              <a:t>CPU: </a:t>
            </a:r>
            <a:r>
              <a:rPr lang="it-IT" sz="2600" b="1" dirty="0" err="1">
                <a:solidFill>
                  <a:srgbClr val="003053"/>
                </a:solidFill>
                <a:latin typeface="Arial"/>
                <a:cs typeface="Arial"/>
              </a:rPr>
              <a:t>OpenMP</a:t>
            </a:r>
            <a:r>
              <a:rPr lang="it-IT" sz="2600" b="1" dirty="0">
                <a:solidFill>
                  <a:srgbClr val="003053"/>
                </a:solidFill>
                <a:latin typeface="Arial"/>
                <a:cs typeface="Arial"/>
              </a:rPr>
              <a:t> e AVX2</a:t>
            </a:r>
          </a:p>
        </p:txBody>
      </p:sp>
      <p:sp>
        <p:nvSpPr>
          <p:cNvPr id="23" name="CasellaDiTesto 7">
            <a:extLst>
              <a:ext uri="{FF2B5EF4-FFF2-40B4-BE49-F238E27FC236}">
                <a16:creationId xmlns:a16="http://schemas.microsoft.com/office/drawing/2014/main" id="{B7FEDF33-38BA-0628-A965-113FEFD08B4B}"/>
              </a:ext>
            </a:extLst>
          </p:cNvPr>
          <p:cNvSpPr txBox="1"/>
          <p:nvPr/>
        </p:nvSpPr>
        <p:spPr>
          <a:xfrm>
            <a:off x="582704" y="1684430"/>
            <a:ext cx="1320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latin typeface="Arial"/>
                <a:cs typeface="Arial"/>
              </a:rPr>
              <a:t>OpenMP</a:t>
            </a:r>
            <a:endParaRPr lang="it-IT" b="1" dirty="0">
              <a:latin typeface="Arial"/>
              <a:cs typeface="Arial"/>
            </a:endParaRPr>
          </a:p>
        </p:txBody>
      </p:sp>
      <p:sp>
        <p:nvSpPr>
          <p:cNvPr id="25" name="CasellaDiTesto 7">
            <a:extLst>
              <a:ext uri="{FF2B5EF4-FFF2-40B4-BE49-F238E27FC236}">
                <a16:creationId xmlns:a16="http://schemas.microsoft.com/office/drawing/2014/main" id="{B8328F2E-8F8D-8C6B-5624-395884D58DCD}"/>
              </a:ext>
            </a:extLst>
          </p:cNvPr>
          <p:cNvSpPr txBox="1"/>
          <p:nvPr/>
        </p:nvSpPr>
        <p:spPr>
          <a:xfrm>
            <a:off x="586571" y="3446895"/>
            <a:ext cx="770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latin typeface="Arial"/>
                <a:cs typeface="Arial"/>
              </a:rPr>
              <a:t>AVX2</a:t>
            </a:r>
          </a:p>
        </p:txBody>
      </p:sp>
      <p:sp>
        <p:nvSpPr>
          <p:cNvPr id="27" name="Corpo">
            <a:extLst>
              <a:ext uri="{FF2B5EF4-FFF2-40B4-BE49-F238E27FC236}">
                <a16:creationId xmlns:a16="http://schemas.microsoft.com/office/drawing/2014/main" id="{FEFA826F-979B-075E-D6AE-22EFC6DB369D}"/>
              </a:ext>
            </a:extLst>
          </p:cNvPr>
          <p:cNvSpPr txBox="1"/>
          <p:nvPr/>
        </p:nvSpPr>
        <p:spPr>
          <a:xfrm>
            <a:off x="582704" y="2053763"/>
            <a:ext cx="7748495" cy="155938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Ciclo sulle righe parallelizzato</a:t>
            </a:r>
            <a:r>
              <a:rPr lang="it-IT" sz="1500" dirty="0">
                <a:latin typeface="Arial"/>
                <a:cs typeface="Arial"/>
              </a:rPr>
              <a:t> → </a:t>
            </a:r>
            <a:r>
              <a:rPr lang="it-IT" sz="1500" b="1" dirty="0">
                <a:latin typeface="Arial"/>
                <a:cs typeface="Arial"/>
              </a:rPr>
              <a:t>righe distribuite tra i </a:t>
            </a:r>
            <a:r>
              <a:rPr lang="it-IT" sz="1500" b="1" dirty="0" err="1">
                <a:latin typeface="Arial"/>
                <a:cs typeface="Arial"/>
              </a:rPr>
              <a:t>thread</a:t>
            </a:r>
            <a:endParaRPr lang="it-IT" sz="1500" b="1" dirty="0">
              <a:latin typeface="Arial"/>
              <a:cs typeface="Arial"/>
            </a:endParaRP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dirty="0">
                <a:latin typeface="Arial"/>
                <a:cs typeface="Arial"/>
              </a:rPr>
              <a:t>Direttiva </a:t>
            </a:r>
            <a:r>
              <a:rPr lang="it-IT" sz="1600" b="1" dirty="0">
                <a:solidFill>
                  <a:srgbClr val="003053"/>
                </a:solidFill>
                <a:latin typeface="Courier New"/>
                <a:cs typeface="Courier New"/>
              </a:rPr>
              <a:t>#pragma </a:t>
            </a:r>
            <a:r>
              <a:rPr lang="it-IT" sz="1600" b="1" dirty="0" err="1">
                <a:solidFill>
                  <a:srgbClr val="003053"/>
                </a:solidFill>
                <a:latin typeface="Courier New"/>
                <a:cs typeface="Courier New"/>
              </a:rPr>
              <a:t>omp</a:t>
            </a:r>
            <a:r>
              <a:rPr lang="it-IT" sz="1600" b="1" dirty="0">
                <a:solidFill>
                  <a:srgbClr val="003053"/>
                </a:solidFill>
                <a:latin typeface="Courier New"/>
                <a:cs typeface="Courier New"/>
              </a:rPr>
              <a:t> </a:t>
            </a:r>
            <a:r>
              <a:rPr lang="it-IT" sz="1600" b="1" dirty="0" err="1">
                <a:solidFill>
                  <a:srgbClr val="003053"/>
                </a:solidFill>
                <a:latin typeface="Courier New"/>
                <a:cs typeface="Courier New"/>
              </a:rPr>
              <a:t>parallel</a:t>
            </a:r>
            <a:r>
              <a:rPr lang="it-IT" sz="1600" b="1" dirty="0">
                <a:solidFill>
                  <a:srgbClr val="003053"/>
                </a:solidFill>
                <a:latin typeface="Courier New"/>
                <a:cs typeface="Courier New"/>
              </a:rPr>
              <a:t> for</a:t>
            </a:r>
            <a:endParaRPr lang="it-IT" sz="1500" b="0" dirty="0">
              <a:latin typeface="Arial"/>
              <a:cs typeface="Arial"/>
            </a:endParaRP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Arial"/>
                <a:cs typeface="Arial"/>
              </a:rPr>
              <a:t>Pixel indipendenti </a:t>
            </a:r>
            <a:r>
              <a:rPr lang="it-IT" sz="1500" dirty="0">
                <a:latin typeface="Arial"/>
                <a:cs typeface="Arial"/>
              </a:rPr>
              <a:t>→ no race </a:t>
            </a:r>
            <a:r>
              <a:rPr lang="it-IT" sz="1500" dirty="0" err="1">
                <a:latin typeface="Arial"/>
                <a:cs typeface="Arial"/>
              </a:rPr>
              <a:t>conditions</a:t>
            </a:r>
            <a:r>
              <a:rPr lang="it-IT" sz="1500" dirty="0">
                <a:latin typeface="Arial"/>
                <a:cs typeface="Arial"/>
              </a:rPr>
              <a:t> </a:t>
            </a:r>
            <a:r>
              <a:rPr lang="it-IT" sz="1500" b="0" dirty="0">
                <a:latin typeface="Arial"/>
                <a:cs typeface="Arial"/>
              </a:rPr>
              <a:t>→ </a:t>
            </a:r>
            <a:r>
              <a:rPr lang="it-IT" sz="1500" b="1" dirty="0">
                <a:latin typeface="Arial"/>
                <a:cs typeface="Arial"/>
              </a:rPr>
              <a:t>nessuna sincronizzazione </a:t>
            </a:r>
            <a:r>
              <a:rPr lang="it-IT" sz="1500" b="0" dirty="0">
                <a:latin typeface="Arial"/>
                <a:cs typeface="Arial"/>
              </a:rPr>
              <a:t>necessaria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dirty="0">
                <a:latin typeface="Arial"/>
                <a:cs typeface="Arial"/>
              </a:rPr>
              <a:t>Creazione team e scheduling dei </a:t>
            </a:r>
            <a:r>
              <a:rPr lang="it-IT" sz="1500" dirty="0" err="1">
                <a:latin typeface="Arial"/>
                <a:cs typeface="Arial"/>
              </a:rPr>
              <a:t>thread</a:t>
            </a:r>
            <a:r>
              <a:rPr lang="it-IT" sz="1500" dirty="0">
                <a:latin typeface="Arial"/>
                <a:cs typeface="Arial"/>
              </a:rPr>
              <a:t> → introduce </a:t>
            </a:r>
            <a:r>
              <a:rPr lang="it-IT" sz="1500" b="1" dirty="0">
                <a:latin typeface="Arial"/>
                <a:cs typeface="Arial"/>
              </a:rPr>
              <a:t>overhead</a:t>
            </a:r>
          </a:p>
        </p:txBody>
      </p:sp>
      <p:sp>
        <p:nvSpPr>
          <p:cNvPr id="29" name="Corpo">
            <a:extLst>
              <a:ext uri="{FF2B5EF4-FFF2-40B4-BE49-F238E27FC236}">
                <a16:creationId xmlns:a16="http://schemas.microsoft.com/office/drawing/2014/main" id="{FF897377-5CB7-B039-B80F-EAABB9B848C5}"/>
              </a:ext>
            </a:extLst>
          </p:cNvPr>
          <p:cNvSpPr txBox="1"/>
          <p:nvPr/>
        </p:nvSpPr>
        <p:spPr>
          <a:xfrm>
            <a:off x="590438" y="3827520"/>
            <a:ext cx="7744628" cy="129171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dirty="0">
                <a:latin typeface="Arial"/>
                <a:cs typeface="Arial"/>
              </a:rPr>
              <a:t>Sfrutta </a:t>
            </a:r>
            <a:r>
              <a:rPr lang="it-IT" sz="1500" b="1" dirty="0">
                <a:latin typeface="Arial"/>
                <a:cs typeface="Arial"/>
              </a:rPr>
              <a:t>registri da 256 bit </a:t>
            </a:r>
            <a:r>
              <a:rPr lang="it-IT" sz="1500" dirty="0">
                <a:latin typeface="Arial"/>
                <a:cs typeface="Arial"/>
              </a:rPr>
              <a:t>per eseguire una </a:t>
            </a:r>
            <a:r>
              <a:rPr lang="it-IT" sz="1500" b="1" dirty="0">
                <a:latin typeface="Arial"/>
                <a:cs typeface="Arial"/>
              </a:rPr>
              <a:t>stessa operazione su più dati </a:t>
            </a:r>
            <a:r>
              <a:rPr lang="it-IT" sz="1500" dirty="0">
                <a:latin typeface="Arial"/>
                <a:cs typeface="Arial"/>
              </a:rPr>
              <a:t>(SIMD)</a:t>
            </a:r>
            <a:endParaRPr lang="it-IT" sz="1500" b="0" dirty="0">
              <a:latin typeface="Arial"/>
              <a:cs typeface="Arial"/>
            </a:endParaRP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Vettorizzazione affidata al compilatore, specificando il flag </a:t>
            </a:r>
            <a:r>
              <a:rPr lang="it-IT" sz="1500" b="1" dirty="0">
                <a:latin typeface="Arial"/>
                <a:cs typeface="Arial"/>
              </a:rPr>
              <a:t>/arch:AVX2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Dipende dal </a:t>
            </a:r>
            <a:r>
              <a:rPr lang="it-IT" sz="1500" b="1" dirty="0">
                <a:latin typeface="Arial"/>
                <a:cs typeface="Arial"/>
              </a:rPr>
              <a:t>supporto della CPU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Arial"/>
                <a:cs typeface="Arial"/>
              </a:rPr>
              <a:t>Nessun overhead </a:t>
            </a:r>
            <a:r>
              <a:rPr lang="it-IT" sz="1500" dirty="0">
                <a:latin typeface="Arial"/>
                <a:cs typeface="Arial"/>
              </a:rPr>
              <a:t>richiesto</a:t>
            </a:r>
            <a:endParaRPr lang="it-IT" sz="1500" b="0" dirty="0">
              <a:latin typeface="Arial"/>
              <a:cs typeface="Arial"/>
            </a:endParaRPr>
          </a:p>
        </p:txBody>
      </p:sp>
      <p:sp>
        <p:nvSpPr>
          <p:cNvPr id="4" name="CasellaDiTesto 7">
            <a:extLst>
              <a:ext uri="{FF2B5EF4-FFF2-40B4-BE49-F238E27FC236}">
                <a16:creationId xmlns:a16="http://schemas.microsoft.com/office/drawing/2014/main" id="{3E78EEF7-5CCD-D540-6360-5B5AC4E91CD2}"/>
              </a:ext>
            </a:extLst>
          </p:cNvPr>
          <p:cNvSpPr txBox="1"/>
          <p:nvPr/>
        </p:nvSpPr>
        <p:spPr>
          <a:xfrm>
            <a:off x="582704" y="5272104"/>
            <a:ext cx="290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latin typeface="Arial"/>
                <a:cs typeface="Arial"/>
              </a:rPr>
              <a:t>OpenMP+AVX2</a:t>
            </a:r>
          </a:p>
        </p:txBody>
      </p:sp>
      <p:sp>
        <p:nvSpPr>
          <p:cNvPr id="7" name="Corpo">
            <a:extLst>
              <a:ext uri="{FF2B5EF4-FFF2-40B4-BE49-F238E27FC236}">
                <a16:creationId xmlns:a16="http://schemas.microsoft.com/office/drawing/2014/main" id="{77A0B6F3-6D6A-A6BD-D405-6FD20A935631}"/>
              </a:ext>
            </a:extLst>
          </p:cNvPr>
          <p:cNvSpPr txBox="1"/>
          <p:nvPr/>
        </p:nvSpPr>
        <p:spPr>
          <a:xfrm>
            <a:off x="582704" y="5651552"/>
            <a:ext cx="7744628" cy="5016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dirty="0">
                <a:latin typeface="Arial"/>
                <a:cs typeface="Arial"/>
              </a:rPr>
              <a:t>Combinazione delle due tecniche precedenti → </a:t>
            </a:r>
            <a:r>
              <a:rPr lang="it-IT" sz="1500" b="1" dirty="0">
                <a:latin typeface="Arial"/>
                <a:cs typeface="Arial"/>
              </a:rPr>
              <a:t>somma dei benefici </a:t>
            </a:r>
            <a:r>
              <a:rPr lang="it-IT" sz="1500" dirty="0">
                <a:latin typeface="Arial"/>
                <a:cs typeface="Arial"/>
              </a:rPr>
              <a:t>di entrambi </a:t>
            </a:r>
            <a:endParaRPr lang="it-IT" sz="1500" b="0" dirty="0">
              <a:latin typeface="Arial"/>
              <a:cs typeface="Arial"/>
            </a:endParaRPr>
          </a:p>
        </p:txBody>
      </p:sp>
      <p:sp>
        <p:nvSpPr>
          <p:cNvPr id="9" name="CasellaDiTesto 9">
            <a:extLst>
              <a:ext uri="{FF2B5EF4-FFF2-40B4-BE49-F238E27FC236}">
                <a16:creationId xmlns:a16="http://schemas.microsoft.com/office/drawing/2014/main" id="{052F4AFC-2D0F-6A9F-A9E1-C5EEF5211243}"/>
              </a:ext>
            </a:extLst>
          </p:cNvPr>
          <p:cNvSpPr txBox="1"/>
          <p:nvPr/>
        </p:nvSpPr>
        <p:spPr>
          <a:xfrm>
            <a:off x="7365999" y="51433"/>
            <a:ext cx="13278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800" b="1" dirty="0" err="1">
                <a:solidFill>
                  <a:schemeClr val="bg1"/>
                </a:solidFill>
                <a:latin typeface="Arial"/>
                <a:cs typeface="Arial"/>
              </a:rPr>
              <a:t>Parallel</a:t>
            </a:r>
            <a:r>
              <a:rPr lang="it-IT" sz="800" b="1" dirty="0">
                <a:solidFill>
                  <a:schemeClr val="bg1"/>
                </a:solidFill>
                <a:latin typeface="Arial"/>
                <a:cs typeface="Arial"/>
              </a:rPr>
              <a:t> Kernel Image Processing</a:t>
            </a:r>
          </a:p>
        </p:txBody>
      </p:sp>
      <p:sp>
        <p:nvSpPr>
          <p:cNvPr id="15" name="CasellaDiTesto 13">
            <a:extLst>
              <a:ext uri="{FF2B5EF4-FFF2-40B4-BE49-F238E27FC236}">
                <a16:creationId xmlns:a16="http://schemas.microsoft.com/office/drawing/2014/main" id="{EE7BD859-6A36-19D8-ED0C-9A9353D36576}"/>
              </a:ext>
            </a:extLst>
          </p:cNvPr>
          <p:cNvSpPr txBox="1"/>
          <p:nvPr/>
        </p:nvSpPr>
        <p:spPr>
          <a:xfrm>
            <a:off x="7648765" y="403482"/>
            <a:ext cx="10550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800" dirty="0" err="1">
                <a:solidFill>
                  <a:schemeClr val="bg1"/>
                </a:solidFill>
                <a:latin typeface="Arial"/>
                <a:cs typeface="Arial"/>
              </a:rPr>
              <a:t>Parallel</a:t>
            </a:r>
            <a:r>
              <a:rPr lang="it-IT" sz="800" dirty="0">
                <a:solidFill>
                  <a:schemeClr val="bg1"/>
                </a:solidFill>
                <a:latin typeface="Arial"/>
                <a:cs typeface="Arial"/>
              </a:rPr>
              <a:t> Computing</a:t>
            </a:r>
          </a:p>
        </p:txBody>
      </p:sp>
    </p:spTree>
    <p:extLst>
      <p:ext uri="{BB962C8B-B14F-4D97-AF65-F5344CB8AC3E}">
        <p14:creationId xmlns:p14="http://schemas.microsoft.com/office/powerpoint/2010/main" val="919538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3E85C-8682-142C-9CDE-FB2F467BA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108D4EAE-5593-63A9-D5B0-EB88602CA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07"/>
            <a:ext cx="9180512" cy="6872633"/>
          </a:xfrm>
          <a:prstGeom prst="rect">
            <a:avLst/>
          </a:prstGeom>
        </p:spPr>
      </p:pic>
      <p:sp>
        <p:nvSpPr>
          <p:cNvPr id="12" name="Rettangolo 11">
            <a:extLst>
              <a:ext uri="{FF2B5EF4-FFF2-40B4-BE49-F238E27FC236}">
                <a16:creationId xmlns:a16="http://schemas.microsoft.com/office/drawing/2014/main" id="{A3A172F3-580D-FB53-9B2C-BE4AB45C8A1C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A9763370-6D95-AD62-DD91-63110E65A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7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" name="Titolo">
            <a:extLst>
              <a:ext uri="{FF2B5EF4-FFF2-40B4-BE49-F238E27FC236}">
                <a16:creationId xmlns:a16="http://schemas.microsoft.com/office/drawing/2014/main" id="{45E72A9C-0CBF-1CE8-881B-AA8C42764298}"/>
              </a:ext>
            </a:extLst>
          </p:cNvPr>
          <p:cNvSpPr txBox="1"/>
          <p:nvPr/>
        </p:nvSpPr>
        <p:spPr>
          <a:xfrm>
            <a:off x="582704" y="942458"/>
            <a:ext cx="7819027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it-IT" sz="2600" b="1" dirty="0">
                <a:solidFill>
                  <a:srgbClr val="003053"/>
                </a:solidFill>
                <a:latin typeface="Arial"/>
                <a:cs typeface="Arial"/>
              </a:rPr>
              <a:t>CUDA: GPU computing</a:t>
            </a:r>
          </a:p>
        </p:txBody>
      </p:sp>
      <p:sp>
        <p:nvSpPr>
          <p:cNvPr id="5" name="CasellaDiTesto 9">
            <a:extLst>
              <a:ext uri="{FF2B5EF4-FFF2-40B4-BE49-F238E27FC236}">
                <a16:creationId xmlns:a16="http://schemas.microsoft.com/office/drawing/2014/main" id="{4E0AECF5-1EF3-2F34-B0C2-9B4752CB65B1}"/>
              </a:ext>
            </a:extLst>
          </p:cNvPr>
          <p:cNvSpPr txBox="1"/>
          <p:nvPr/>
        </p:nvSpPr>
        <p:spPr>
          <a:xfrm>
            <a:off x="7365999" y="51433"/>
            <a:ext cx="13278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800" b="1" dirty="0" err="1">
                <a:solidFill>
                  <a:schemeClr val="bg1"/>
                </a:solidFill>
                <a:latin typeface="Arial"/>
                <a:cs typeface="Arial"/>
              </a:rPr>
              <a:t>Parallel</a:t>
            </a:r>
            <a:r>
              <a:rPr lang="it-IT" sz="800" b="1" dirty="0">
                <a:solidFill>
                  <a:schemeClr val="bg1"/>
                </a:solidFill>
                <a:latin typeface="Arial"/>
                <a:cs typeface="Arial"/>
              </a:rPr>
              <a:t> Kernel Image Processing</a:t>
            </a:r>
          </a:p>
        </p:txBody>
      </p:sp>
      <p:sp>
        <p:nvSpPr>
          <p:cNvPr id="8" name="CasellaDiTesto 13">
            <a:extLst>
              <a:ext uri="{FF2B5EF4-FFF2-40B4-BE49-F238E27FC236}">
                <a16:creationId xmlns:a16="http://schemas.microsoft.com/office/drawing/2014/main" id="{54AA8227-B82D-D225-0E8A-8E6DD8EDDD9C}"/>
              </a:ext>
            </a:extLst>
          </p:cNvPr>
          <p:cNvSpPr txBox="1"/>
          <p:nvPr/>
        </p:nvSpPr>
        <p:spPr>
          <a:xfrm>
            <a:off x="7648765" y="403482"/>
            <a:ext cx="10550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800" dirty="0" err="1">
                <a:solidFill>
                  <a:schemeClr val="bg1"/>
                </a:solidFill>
                <a:latin typeface="Arial"/>
                <a:cs typeface="Arial"/>
              </a:rPr>
              <a:t>Parallel</a:t>
            </a:r>
            <a:r>
              <a:rPr lang="it-IT" sz="800" dirty="0">
                <a:solidFill>
                  <a:schemeClr val="bg1"/>
                </a:solidFill>
                <a:latin typeface="Arial"/>
                <a:cs typeface="Arial"/>
              </a:rPr>
              <a:t> Computing</a:t>
            </a:r>
          </a:p>
        </p:txBody>
      </p:sp>
      <p:sp>
        <p:nvSpPr>
          <p:cNvPr id="16" name="Corpo">
            <a:extLst>
              <a:ext uri="{FF2B5EF4-FFF2-40B4-BE49-F238E27FC236}">
                <a16:creationId xmlns:a16="http://schemas.microsoft.com/office/drawing/2014/main" id="{9AAC8EB1-A65E-5668-7F0C-5003852781E5}"/>
              </a:ext>
            </a:extLst>
          </p:cNvPr>
          <p:cNvSpPr txBox="1"/>
          <p:nvPr/>
        </p:nvSpPr>
        <p:spPr>
          <a:xfrm>
            <a:off x="582704" y="1559389"/>
            <a:ext cx="7819027" cy="4644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Arial"/>
                <a:cs typeface="Arial"/>
              </a:rPr>
              <a:t>Overhead</a:t>
            </a:r>
            <a:r>
              <a:rPr lang="it-IT" sz="1500" b="0" dirty="0">
                <a:latin typeface="Arial"/>
                <a:cs typeface="Arial"/>
              </a:rPr>
              <a:t> di allocazione (</a:t>
            </a:r>
            <a:r>
              <a:rPr lang="it-IT" sz="1500" b="0" i="1" dirty="0" err="1">
                <a:latin typeface="Arial"/>
                <a:cs typeface="Arial"/>
              </a:rPr>
              <a:t>cudaMalloc</a:t>
            </a:r>
            <a:r>
              <a:rPr lang="it-IT" sz="1500" b="0" dirty="0">
                <a:latin typeface="Arial"/>
                <a:cs typeface="Arial"/>
              </a:rPr>
              <a:t>) e trasferimento dati (</a:t>
            </a:r>
            <a:r>
              <a:rPr lang="it-IT" sz="1500" b="0" i="1" dirty="0" err="1">
                <a:latin typeface="Arial"/>
                <a:cs typeface="Arial"/>
              </a:rPr>
              <a:t>cudaMemcpy</a:t>
            </a:r>
            <a:r>
              <a:rPr lang="it-IT" sz="1500" b="0" dirty="0">
                <a:latin typeface="Arial"/>
                <a:cs typeface="Arial"/>
              </a:rPr>
              <a:t>)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Implementato con schema a </a:t>
            </a:r>
            <a:r>
              <a:rPr lang="it-IT" sz="1500" b="1" dirty="0" err="1">
                <a:latin typeface="Arial"/>
                <a:cs typeface="Arial"/>
              </a:rPr>
              <a:t>tile</a:t>
            </a:r>
            <a:r>
              <a:rPr lang="it-IT" sz="1500" b="0" dirty="0">
                <a:latin typeface="Arial"/>
                <a:cs typeface="Arial"/>
              </a:rPr>
              <a:t> con </a:t>
            </a:r>
            <a:r>
              <a:rPr lang="it-IT" sz="1500" b="1" i="1" dirty="0" err="1">
                <a:latin typeface="Arial"/>
                <a:cs typeface="Arial"/>
              </a:rPr>
              <a:t>shared</a:t>
            </a:r>
            <a:r>
              <a:rPr lang="it-IT" sz="1500" b="1" i="1" dirty="0">
                <a:latin typeface="Arial"/>
                <a:cs typeface="Arial"/>
              </a:rPr>
              <a:t> </a:t>
            </a:r>
            <a:r>
              <a:rPr lang="it-IT" sz="1500" b="1" i="1" dirty="0" err="1">
                <a:latin typeface="Arial"/>
                <a:cs typeface="Arial"/>
              </a:rPr>
              <a:t>memory</a:t>
            </a:r>
            <a:r>
              <a:rPr lang="it-IT" sz="1500" b="1" i="1" dirty="0">
                <a:latin typeface="Arial"/>
                <a:cs typeface="Arial"/>
              </a:rPr>
              <a:t> </a:t>
            </a:r>
            <a:r>
              <a:rPr lang="it-IT" sz="1500" dirty="0">
                <a:latin typeface="Arial"/>
                <a:cs typeface="Arial"/>
              </a:rPr>
              <a:t>→ accessi molto più veloci</a:t>
            </a:r>
            <a:endParaRPr lang="it-IT" sz="1500" b="0" dirty="0">
              <a:latin typeface="Arial"/>
              <a:cs typeface="Arial"/>
            </a:endParaRP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1500" dirty="0">
                <a:latin typeface="Arial"/>
                <a:cs typeface="Arial"/>
              </a:rPr>
              <a:t>blocco </a:t>
            </a:r>
            <a:r>
              <a:rPr lang="it-IT" sz="1500" b="0" dirty="0">
                <a:latin typeface="Arial"/>
                <a:cs typeface="Arial"/>
              </a:rPr>
              <a:t>di </a:t>
            </a:r>
            <a:r>
              <a:rPr lang="it-IT" sz="1500" b="0" dirty="0" err="1">
                <a:latin typeface="Arial"/>
                <a:cs typeface="Arial"/>
              </a:rPr>
              <a:t>thread</a:t>
            </a:r>
            <a:r>
              <a:rPr lang="it-IT" sz="1500" b="0" dirty="0">
                <a:latin typeface="Arial"/>
                <a:cs typeface="Arial"/>
              </a:rPr>
              <a:t> di dimensione </a:t>
            </a:r>
            <a:r>
              <a:rPr lang="it-IT" sz="1500" b="0" i="1" dirty="0">
                <a:latin typeface="Arial"/>
                <a:cs typeface="Arial"/>
              </a:rPr>
              <a:t>TILE_WIDTH × TILE_WIDTH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1500" dirty="0">
                <a:latin typeface="Arial"/>
                <a:cs typeface="Arial"/>
              </a:rPr>
              <a:t>Gestione </a:t>
            </a:r>
            <a:r>
              <a:rPr lang="it-IT" sz="1500" b="1" dirty="0">
                <a:latin typeface="Arial"/>
                <a:cs typeface="Arial"/>
              </a:rPr>
              <a:t>pixel di bordo </a:t>
            </a:r>
            <a:r>
              <a:rPr lang="it-IT" sz="1500" dirty="0">
                <a:latin typeface="Arial"/>
                <a:cs typeface="Arial"/>
              </a:rPr>
              <a:t>→ aggiunta </a:t>
            </a:r>
            <a:r>
              <a:rPr lang="it-IT" sz="1500" b="1" dirty="0">
                <a:latin typeface="Arial"/>
                <a:cs typeface="Arial"/>
              </a:rPr>
              <a:t>zona di contorno </a:t>
            </a:r>
            <a:r>
              <a:rPr lang="it-IT" sz="1500" dirty="0">
                <a:latin typeface="Arial"/>
                <a:cs typeface="Arial"/>
              </a:rPr>
              <a:t>(</a:t>
            </a:r>
            <a:r>
              <a:rPr lang="it-IT" sz="1500" i="1" dirty="0" err="1">
                <a:latin typeface="Arial"/>
                <a:cs typeface="Arial"/>
              </a:rPr>
              <a:t>halo</a:t>
            </a:r>
            <a:r>
              <a:rPr lang="it-IT" sz="1500" dirty="0">
                <a:latin typeface="Arial"/>
                <a:cs typeface="Arial"/>
              </a:rPr>
              <a:t>)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Arial"/>
                <a:cs typeface="Arial"/>
              </a:rPr>
              <a:t>Convoluzione </a:t>
            </a:r>
            <a:r>
              <a:rPr lang="it-IT" sz="1500" dirty="0">
                <a:latin typeface="Arial"/>
                <a:cs typeface="Arial"/>
              </a:rPr>
              <a:t>con</a:t>
            </a:r>
            <a:r>
              <a:rPr lang="it-IT" sz="1500" b="1" dirty="0">
                <a:latin typeface="Arial"/>
                <a:cs typeface="Arial"/>
              </a:rPr>
              <a:t> 2-batch loading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1500" dirty="0">
                <a:latin typeface="Arial"/>
                <a:cs typeface="Arial"/>
              </a:rPr>
              <a:t>Area da caricare (</a:t>
            </a:r>
            <a:r>
              <a:rPr lang="it-IT" sz="1500" i="1" dirty="0" err="1">
                <a:latin typeface="Arial"/>
                <a:cs typeface="Arial"/>
              </a:rPr>
              <a:t>tile</a:t>
            </a:r>
            <a:r>
              <a:rPr lang="it-IT" sz="1500" dirty="0" err="1">
                <a:latin typeface="Arial"/>
                <a:cs typeface="Arial"/>
              </a:rPr>
              <a:t>+</a:t>
            </a:r>
            <a:r>
              <a:rPr lang="it-IT" sz="1500" i="1" dirty="0" err="1">
                <a:latin typeface="Arial"/>
                <a:cs typeface="Arial"/>
              </a:rPr>
              <a:t>halo</a:t>
            </a:r>
            <a:r>
              <a:rPr lang="it-IT" sz="1500" dirty="0">
                <a:latin typeface="Arial"/>
                <a:cs typeface="Arial"/>
              </a:rPr>
              <a:t>) maggiore del numero di </a:t>
            </a:r>
            <a:r>
              <a:rPr lang="it-IT" sz="1500" dirty="0" err="1">
                <a:latin typeface="Arial"/>
                <a:cs typeface="Arial"/>
              </a:rPr>
              <a:t>thread</a:t>
            </a:r>
            <a:r>
              <a:rPr lang="it-IT" sz="1500" dirty="0">
                <a:latin typeface="Arial"/>
                <a:cs typeface="Arial"/>
              </a:rPr>
              <a:t> del </a:t>
            </a:r>
            <a:r>
              <a:rPr lang="it-IT" sz="1500" i="1" dirty="0" err="1">
                <a:latin typeface="Arial"/>
                <a:cs typeface="Arial"/>
              </a:rPr>
              <a:t>tile</a:t>
            </a:r>
            <a:r>
              <a:rPr lang="it-IT" sz="1500" dirty="0">
                <a:latin typeface="Arial"/>
                <a:cs typeface="Arial"/>
              </a:rPr>
              <a:t> → </a:t>
            </a:r>
            <a:r>
              <a:rPr lang="it-IT" b="1" dirty="0"/>
              <a:t>alcuni</a:t>
            </a:r>
            <a:r>
              <a:rPr lang="it-IT" sz="1500" dirty="0">
                <a:latin typeface="Arial"/>
                <a:cs typeface="Arial"/>
              </a:rPr>
              <a:t> </a:t>
            </a:r>
            <a:r>
              <a:rPr lang="it-IT" sz="1500" b="1" dirty="0" err="1">
                <a:latin typeface="Arial"/>
                <a:cs typeface="Arial"/>
              </a:rPr>
              <a:t>thread</a:t>
            </a:r>
            <a:r>
              <a:rPr lang="it-IT" sz="1500" b="1" dirty="0">
                <a:latin typeface="Arial"/>
                <a:cs typeface="Arial"/>
              </a:rPr>
              <a:t> caricano 2 elementi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1500" b="1" dirty="0">
                <a:latin typeface="Arial"/>
                <a:cs typeface="Arial"/>
              </a:rPr>
              <a:t>Primo caricamento</a:t>
            </a:r>
            <a:r>
              <a:rPr lang="it-IT" sz="1500" b="0" dirty="0">
                <a:latin typeface="Arial"/>
                <a:cs typeface="Arial"/>
              </a:rPr>
              <a:t>: ogni </a:t>
            </a:r>
            <a:r>
              <a:rPr lang="it-IT" sz="1500" b="0" dirty="0" err="1">
                <a:latin typeface="Arial"/>
                <a:cs typeface="Arial"/>
              </a:rPr>
              <a:t>thread</a:t>
            </a:r>
            <a:r>
              <a:rPr lang="it-IT" sz="1500" b="0" dirty="0">
                <a:latin typeface="Arial"/>
                <a:cs typeface="Arial"/>
              </a:rPr>
              <a:t> calcola l’</a:t>
            </a:r>
            <a:r>
              <a:rPr lang="it-IT" sz="1500" b="1" dirty="0">
                <a:latin typeface="Arial"/>
                <a:cs typeface="Arial"/>
              </a:rPr>
              <a:t>indice nell’area totale </a:t>
            </a:r>
            <a:r>
              <a:rPr lang="it-IT" sz="1500" b="0" dirty="0">
                <a:latin typeface="Arial"/>
                <a:cs typeface="Arial"/>
              </a:rPr>
              <a:t>partendo </a:t>
            </a:r>
            <a:r>
              <a:rPr lang="it-IT" sz="1500" dirty="0">
                <a:latin typeface="Arial"/>
                <a:cs typeface="Arial"/>
              </a:rPr>
              <a:t>dal proprio indice nel blocco </a:t>
            </a:r>
            <a:r>
              <a:rPr lang="it-IT" sz="1500" b="0" dirty="0">
                <a:latin typeface="Arial"/>
                <a:cs typeface="Arial"/>
              </a:rPr>
              <a:t>e </a:t>
            </a:r>
            <a:r>
              <a:rPr lang="it-IT" sz="1500" b="1" dirty="0">
                <a:latin typeface="Arial"/>
                <a:cs typeface="Arial"/>
              </a:rPr>
              <a:t>carica un pixel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it-IT" sz="1500" b="1" dirty="0">
                <a:latin typeface="Arial"/>
                <a:cs typeface="Arial"/>
              </a:rPr>
              <a:t>Secondo caricamento</a:t>
            </a:r>
            <a:r>
              <a:rPr lang="it-IT" sz="1500" b="0" dirty="0">
                <a:latin typeface="Arial"/>
                <a:cs typeface="Arial"/>
              </a:rPr>
              <a:t>: gli stessi </a:t>
            </a:r>
            <a:r>
              <a:rPr lang="it-IT" sz="1500" b="0" dirty="0" err="1">
                <a:latin typeface="Arial"/>
                <a:cs typeface="Arial"/>
              </a:rPr>
              <a:t>thread</a:t>
            </a:r>
            <a:r>
              <a:rPr lang="it-IT" sz="1500" b="0" dirty="0">
                <a:latin typeface="Arial"/>
                <a:cs typeface="Arial"/>
              </a:rPr>
              <a:t>, </a:t>
            </a:r>
            <a:r>
              <a:rPr lang="it-IT" sz="1500" b="1" dirty="0">
                <a:latin typeface="Arial"/>
                <a:cs typeface="Arial"/>
              </a:rPr>
              <a:t>aggiunto un offset all’indice</a:t>
            </a:r>
            <a:r>
              <a:rPr lang="it-IT" sz="1500" b="0" dirty="0">
                <a:latin typeface="Arial"/>
                <a:cs typeface="Arial"/>
              </a:rPr>
              <a:t>, caricano un </a:t>
            </a:r>
            <a:r>
              <a:rPr lang="it-IT" sz="1500" b="1" dirty="0">
                <a:latin typeface="Arial"/>
                <a:cs typeface="Arial"/>
              </a:rPr>
              <a:t>secondo elemento </a:t>
            </a:r>
            <a:r>
              <a:rPr lang="it-IT" sz="1500" dirty="0">
                <a:latin typeface="Arial"/>
                <a:cs typeface="Arial"/>
              </a:rPr>
              <a:t>→</a:t>
            </a:r>
            <a:r>
              <a:rPr lang="it-IT" sz="1500" b="0" dirty="0">
                <a:latin typeface="Arial"/>
                <a:cs typeface="Arial"/>
              </a:rPr>
              <a:t> solo se la destinazione ricade </a:t>
            </a:r>
            <a:r>
              <a:rPr lang="it-IT" sz="1500" b="1" dirty="0">
                <a:latin typeface="Arial"/>
                <a:cs typeface="Arial"/>
              </a:rPr>
              <a:t>dentro l'area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Pixel esterni ai limiti dell'immagine </a:t>
            </a:r>
            <a:r>
              <a:rPr lang="it-IT" sz="1500" dirty="0">
                <a:latin typeface="Arial"/>
                <a:cs typeface="Arial"/>
              </a:rPr>
              <a:t>g</a:t>
            </a:r>
            <a:r>
              <a:rPr lang="it-IT" sz="1500" b="0" dirty="0">
                <a:latin typeface="Arial"/>
                <a:cs typeface="Arial"/>
              </a:rPr>
              <a:t>estiti con </a:t>
            </a:r>
            <a:r>
              <a:rPr lang="it-IT" sz="1500" b="0" i="1" dirty="0">
                <a:latin typeface="Arial"/>
                <a:cs typeface="Arial"/>
              </a:rPr>
              <a:t>zero-</a:t>
            </a:r>
            <a:r>
              <a:rPr lang="it-IT" sz="1500" b="0" i="1" dirty="0" err="1">
                <a:latin typeface="Arial"/>
                <a:cs typeface="Arial"/>
              </a:rPr>
              <a:t>padding</a:t>
            </a:r>
            <a:endParaRPr lang="it-IT" sz="1500" b="0" i="1" dirty="0">
              <a:latin typeface="Arial"/>
              <a:cs typeface="Arial"/>
            </a:endParaRP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dirty="0">
                <a:latin typeface="Arial"/>
                <a:cs typeface="Arial"/>
              </a:rPr>
              <a:t>Immagine e kernel </a:t>
            </a:r>
            <a:r>
              <a:rPr lang="it-IT" sz="1500" dirty="0" err="1">
                <a:latin typeface="Arial"/>
                <a:cs typeface="Arial"/>
              </a:rPr>
              <a:t>read-only</a:t>
            </a:r>
            <a:r>
              <a:rPr lang="it-IT" sz="1500" dirty="0">
                <a:latin typeface="Arial"/>
                <a:cs typeface="Arial"/>
              </a:rPr>
              <a:t> →  dichiarati </a:t>
            </a:r>
            <a:r>
              <a:rPr lang="it-IT" sz="1500" b="1" i="1" dirty="0" err="1">
                <a:latin typeface="Arial"/>
                <a:cs typeface="Arial"/>
              </a:rPr>
              <a:t>const</a:t>
            </a:r>
            <a:r>
              <a:rPr lang="it-IT" sz="1500" b="1" i="1" dirty="0">
                <a:latin typeface="Arial"/>
                <a:cs typeface="Arial"/>
              </a:rPr>
              <a:t> </a:t>
            </a:r>
            <a:r>
              <a:rPr lang="it-IT" sz="1500" b="1" dirty="0">
                <a:latin typeface="Arial"/>
                <a:cs typeface="Arial"/>
              </a:rPr>
              <a:t>__</a:t>
            </a:r>
            <a:r>
              <a:rPr lang="it-IT" sz="1500" b="1" i="1" dirty="0" err="1">
                <a:latin typeface="Arial"/>
                <a:cs typeface="Arial"/>
              </a:rPr>
              <a:t>restrict</a:t>
            </a:r>
            <a:r>
              <a:rPr lang="it-IT" sz="1500" b="1" dirty="0">
                <a:latin typeface="Arial"/>
                <a:cs typeface="Arial"/>
              </a:rPr>
              <a:t>__</a:t>
            </a:r>
            <a:r>
              <a:rPr lang="it-IT" sz="1500" b="1" i="1" dirty="0">
                <a:latin typeface="Arial"/>
                <a:cs typeface="Arial"/>
              </a:rPr>
              <a:t> </a:t>
            </a:r>
            <a:r>
              <a:rPr lang="it-IT" sz="1500" dirty="0">
                <a:latin typeface="Arial"/>
                <a:cs typeface="Arial"/>
              </a:rPr>
              <a:t>→ il compilatore può inserirle nella </a:t>
            </a:r>
            <a:r>
              <a:rPr lang="it-IT" sz="1500" b="1" dirty="0">
                <a:latin typeface="Arial"/>
                <a:cs typeface="Arial"/>
              </a:rPr>
              <a:t>cache costante</a:t>
            </a:r>
            <a:r>
              <a:rPr lang="it-IT" sz="1500" dirty="0">
                <a:latin typeface="Arial"/>
                <a:cs typeface="Arial"/>
              </a:rPr>
              <a:t> → accessi più veloci</a:t>
            </a:r>
            <a:endParaRPr lang="it-IT" sz="1500" b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16980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5F457-3745-CF2C-CA79-2E18D643B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E4F37DB6-0D3B-A679-40AA-30301BBEC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07"/>
            <a:ext cx="9180512" cy="6872633"/>
          </a:xfrm>
          <a:prstGeom prst="rect">
            <a:avLst/>
          </a:prstGeom>
        </p:spPr>
      </p:pic>
      <p:sp>
        <p:nvSpPr>
          <p:cNvPr id="12" name="Rettangolo 11">
            <a:extLst>
              <a:ext uri="{FF2B5EF4-FFF2-40B4-BE49-F238E27FC236}">
                <a16:creationId xmlns:a16="http://schemas.microsoft.com/office/drawing/2014/main" id="{0FE7A52A-0FE6-8EBE-FCB2-B1550AFB908C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33CE1D1A-D4E6-36C5-6D87-E25FBCCE4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8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5" name="Titolo">
            <a:extLst>
              <a:ext uri="{FF2B5EF4-FFF2-40B4-BE49-F238E27FC236}">
                <a16:creationId xmlns:a16="http://schemas.microsoft.com/office/drawing/2014/main" id="{37EB11F4-ACCD-7E92-D776-5FBA1D250621}"/>
              </a:ext>
            </a:extLst>
          </p:cNvPr>
          <p:cNvSpPr txBox="1"/>
          <p:nvPr/>
        </p:nvSpPr>
        <p:spPr>
          <a:xfrm>
            <a:off x="582704" y="942458"/>
            <a:ext cx="7819027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it-IT" sz="2600" b="1" dirty="0" err="1">
                <a:solidFill>
                  <a:srgbClr val="003053"/>
                </a:solidFill>
                <a:latin typeface="Arial"/>
                <a:cs typeface="Arial"/>
              </a:rPr>
              <a:t>AoS</a:t>
            </a:r>
            <a:r>
              <a:rPr lang="it-IT" sz="2600" b="1" dirty="0">
                <a:solidFill>
                  <a:srgbClr val="003053"/>
                </a:solidFill>
                <a:latin typeface="Arial"/>
                <a:cs typeface="Arial"/>
              </a:rPr>
              <a:t> vs </a:t>
            </a:r>
            <a:r>
              <a:rPr lang="it-IT" sz="2600" b="1" dirty="0" err="1">
                <a:solidFill>
                  <a:srgbClr val="003053"/>
                </a:solidFill>
                <a:latin typeface="Arial"/>
                <a:cs typeface="Arial"/>
              </a:rPr>
              <a:t>SoA</a:t>
            </a:r>
            <a:endParaRPr lang="it-IT" sz="2600" b="1" dirty="0">
              <a:solidFill>
                <a:srgbClr val="003053"/>
              </a:solidFill>
              <a:latin typeface="Arial"/>
              <a:cs typeface="Arial"/>
            </a:endParaRPr>
          </a:p>
        </p:txBody>
      </p:sp>
      <p:sp>
        <p:nvSpPr>
          <p:cNvPr id="15" name="CasellaDiTesto 7">
            <a:extLst>
              <a:ext uri="{FF2B5EF4-FFF2-40B4-BE49-F238E27FC236}">
                <a16:creationId xmlns:a16="http://schemas.microsoft.com/office/drawing/2014/main" id="{9C2F74EA-9EE9-6247-06C8-09E1C3976E55}"/>
              </a:ext>
            </a:extLst>
          </p:cNvPr>
          <p:cNvSpPr txBox="1"/>
          <p:nvPr/>
        </p:nvSpPr>
        <p:spPr>
          <a:xfrm>
            <a:off x="582702" y="1683932"/>
            <a:ext cx="318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latin typeface="Arial"/>
                <a:cs typeface="Arial"/>
              </a:rPr>
              <a:t>Array of </a:t>
            </a:r>
            <a:r>
              <a:rPr lang="it-IT" b="1" dirty="0" err="1">
                <a:latin typeface="Arial"/>
                <a:cs typeface="Arial"/>
              </a:rPr>
              <a:t>Structures</a:t>
            </a:r>
            <a:endParaRPr lang="it-IT" b="1" dirty="0">
              <a:latin typeface="Arial"/>
              <a:cs typeface="Arial"/>
            </a:endParaRPr>
          </a:p>
        </p:txBody>
      </p:sp>
      <p:sp>
        <p:nvSpPr>
          <p:cNvPr id="17" name="CasellaDiTesto 7">
            <a:extLst>
              <a:ext uri="{FF2B5EF4-FFF2-40B4-BE49-F238E27FC236}">
                <a16:creationId xmlns:a16="http://schemas.microsoft.com/office/drawing/2014/main" id="{FB7D2279-C507-4ADE-B00D-5783E27EB8F1}"/>
              </a:ext>
            </a:extLst>
          </p:cNvPr>
          <p:cNvSpPr txBox="1"/>
          <p:nvPr/>
        </p:nvSpPr>
        <p:spPr>
          <a:xfrm>
            <a:off x="4678436" y="1673464"/>
            <a:ext cx="3068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latin typeface="Arial"/>
                <a:cs typeface="Arial"/>
              </a:rPr>
              <a:t>Structure</a:t>
            </a:r>
            <a:r>
              <a:rPr lang="it-IT" b="1" dirty="0">
                <a:latin typeface="Arial"/>
                <a:cs typeface="Arial"/>
              </a:rPr>
              <a:t> of Arrays</a:t>
            </a:r>
          </a:p>
        </p:txBody>
      </p:sp>
      <p:sp>
        <p:nvSpPr>
          <p:cNvPr id="19" name="Corpo">
            <a:extLst>
              <a:ext uri="{FF2B5EF4-FFF2-40B4-BE49-F238E27FC236}">
                <a16:creationId xmlns:a16="http://schemas.microsoft.com/office/drawing/2014/main" id="{DC233F2F-ED9F-CBAB-0C6A-8B6820844773}"/>
              </a:ext>
            </a:extLst>
          </p:cNvPr>
          <p:cNvSpPr txBox="1"/>
          <p:nvPr/>
        </p:nvSpPr>
        <p:spPr>
          <a:xfrm>
            <a:off x="582703" y="2053264"/>
            <a:ext cx="3946432" cy="1691354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Pixel su singolo array: </a:t>
            </a:r>
            <a:r>
              <a:rPr lang="it-IT" sz="1500" b="1" dirty="0">
                <a:latin typeface="Arial"/>
                <a:cs typeface="Arial"/>
              </a:rPr>
              <a:t>RGBRGBRGB</a:t>
            </a:r>
            <a:r>
              <a:rPr lang="it-IT" sz="1500" b="0" dirty="0">
                <a:latin typeface="Arial"/>
                <a:cs typeface="Arial"/>
              </a:rPr>
              <a:t>…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dirty="0">
                <a:latin typeface="Arial"/>
                <a:cs typeface="Arial"/>
              </a:rPr>
              <a:t>Layout più </a:t>
            </a:r>
            <a:r>
              <a:rPr lang="it-IT" sz="1500" b="1" dirty="0">
                <a:latin typeface="Arial"/>
                <a:cs typeface="Arial"/>
              </a:rPr>
              <a:t>comune e intuitivo </a:t>
            </a:r>
            <a:r>
              <a:rPr lang="it-IT" sz="1500" dirty="0">
                <a:latin typeface="Arial"/>
                <a:cs typeface="Arial"/>
              </a:rPr>
              <a:t>per immagini</a:t>
            </a:r>
            <a:endParaRPr lang="it-IT" sz="1500" b="0" dirty="0">
              <a:latin typeface="Arial"/>
              <a:cs typeface="Arial"/>
            </a:endParaRP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Usato per memorizzare l'immagine nel programma</a:t>
            </a:r>
          </a:p>
        </p:txBody>
      </p:sp>
      <p:sp>
        <p:nvSpPr>
          <p:cNvPr id="21" name="Corpo">
            <a:extLst>
              <a:ext uri="{FF2B5EF4-FFF2-40B4-BE49-F238E27FC236}">
                <a16:creationId xmlns:a16="http://schemas.microsoft.com/office/drawing/2014/main" id="{761FDBF6-B35A-E9C2-5D89-0EF0CC5A9CB2}"/>
              </a:ext>
            </a:extLst>
          </p:cNvPr>
          <p:cNvSpPr txBox="1"/>
          <p:nvPr/>
        </p:nvSpPr>
        <p:spPr>
          <a:xfrm>
            <a:off x="4572000" y="2072596"/>
            <a:ext cx="4146551" cy="167202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Canali colore su 3 array separati: </a:t>
            </a:r>
            <a:r>
              <a:rPr lang="it-IT" sz="1500" b="1" dirty="0">
                <a:latin typeface="Arial"/>
                <a:cs typeface="Arial"/>
              </a:rPr>
              <a:t>RRR</a:t>
            </a:r>
            <a:r>
              <a:rPr lang="it-IT" sz="1500" b="0" dirty="0">
                <a:latin typeface="Arial"/>
                <a:cs typeface="Arial"/>
              </a:rPr>
              <a:t>… ; </a:t>
            </a:r>
            <a:r>
              <a:rPr lang="it-IT" sz="1500" b="1" dirty="0">
                <a:latin typeface="Arial"/>
                <a:cs typeface="Arial"/>
              </a:rPr>
              <a:t>GGG</a:t>
            </a:r>
            <a:r>
              <a:rPr lang="it-IT" sz="1500" b="0" dirty="0">
                <a:latin typeface="Arial"/>
                <a:cs typeface="Arial"/>
              </a:rPr>
              <a:t>… ; </a:t>
            </a:r>
            <a:r>
              <a:rPr lang="it-IT" sz="1500" b="1" dirty="0">
                <a:latin typeface="Arial"/>
                <a:cs typeface="Arial"/>
              </a:rPr>
              <a:t>BBB</a:t>
            </a:r>
            <a:r>
              <a:rPr lang="it-IT" sz="1500" b="0" dirty="0">
                <a:latin typeface="Arial"/>
                <a:cs typeface="Arial"/>
              </a:rPr>
              <a:t>…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Arial"/>
                <a:cs typeface="Arial"/>
              </a:rPr>
              <a:t>Conversione da </a:t>
            </a:r>
            <a:r>
              <a:rPr lang="it-IT" sz="1500" b="1" dirty="0" err="1">
                <a:latin typeface="Arial"/>
                <a:cs typeface="Arial"/>
              </a:rPr>
              <a:t>AoS</a:t>
            </a:r>
            <a:r>
              <a:rPr lang="it-IT" sz="1500" b="1" dirty="0">
                <a:latin typeface="Arial"/>
                <a:cs typeface="Arial"/>
              </a:rPr>
              <a:t> a </a:t>
            </a:r>
            <a:r>
              <a:rPr lang="it-IT" sz="1500" b="1" dirty="0" err="1">
                <a:latin typeface="Arial"/>
                <a:cs typeface="Arial"/>
              </a:rPr>
              <a:t>SoA</a:t>
            </a:r>
            <a:r>
              <a:rPr lang="it-IT" sz="1500" b="1" dirty="0">
                <a:latin typeface="Arial"/>
                <a:cs typeface="Arial"/>
              </a:rPr>
              <a:t> esclusa dal benchmark</a:t>
            </a:r>
          </a:p>
        </p:txBody>
      </p:sp>
      <p:sp>
        <p:nvSpPr>
          <p:cNvPr id="7" name="Corpo">
            <a:extLst>
              <a:ext uri="{FF2B5EF4-FFF2-40B4-BE49-F238E27FC236}">
                <a16:creationId xmlns:a16="http://schemas.microsoft.com/office/drawing/2014/main" id="{BDAB5CA4-23F3-86DA-E0B2-3C34FA90E42C}"/>
              </a:ext>
            </a:extLst>
          </p:cNvPr>
          <p:cNvSpPr txBox="1"/>
          <p:nvPr/>
        </p:nvSpPr>
        <p:spPr>
          <a:xfrm>
            <a:off x="584752" y="4010118"/>
            <a:ext cx="7819027" cy="154614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Confronto dei due layout a livello di </a:t>
            </a:r>
            <a:r>
              <a:rPr lang="it-IT" sz="1500" b="1" dirty="0">
                <a:latin typeface="Arial"/>
                <a:cs typeface="Arial"/>
              </a:rPr>
              <a:t>prestazioni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dirty="0">
                <a:latin typeface="Arial"/>
                <a:cs typeface="Arial"/>
              </a:rPr>
              <a:t>Convoluzione applicata indipendentemente sui 3 canali colore → </a:t>
            </a:r>
            <a:r>
              <a:rPr lang="it-IT" sz="1500" b="1" dirty="0">
                <a:latin typeface="Arial"/>
                <a:cs typeface="Arial"/>
              </a:rPr>
              <a:t>nessuna reale differenza </a:t>
            </a:r>
            <a:r>
              <a:rPr lang="it-IT" sz="1500" dirty="0">
                <a:latin typeface="Arial"/>
                <a:cs typeface="Arial"/>
              </a:rPr>
              <a:t>nella versione sequenziale base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dirty="0">
                <a:latin typeface="Arial"/>
                <a:cs typeface="Arial"/>
              </a:rPr>
              <a:t>Applicata </a:t>
            </a:r>
            <a:r>
              <a:rPr lang="it-IT" sz="1500" b="1" dirty="0">
                <a:latin typeface="Arial"/>
                <a:cs typeface="Arial"/>
              </a:rPr>
              <a:t>vettorizzazione AVX2 </a:t>
            </a:r>
            <a:r>
              <a:rPr lang="it-IT" sz="1500" dirty="0">
                <a:latin typeface="Arial"/>
                <a:cs typeface="Arial"/>
              </a:rPr>
              <a:t>→ efficienza maggiore per operazioni su dati salvati su </a:t>
            </a:r>
            <a:r>
              <a:rPr lang="it-IT" sz="1500" b="1" dirty="0">
                <a:latin typeface="Arial"/>
                <a:cs typeface="Arial"/>
              </a:rPr>
              <a:t>memoria contigua </a:t>
            </a:r>
            <a:r>
              <a:rPr lang="it-IT" sz="1500" dirty="0">
                <a:latin typeface="Arial"/>
                <a:cs typeface="Arial"/>
              </a:rPr>
              <a:t>→ idealmente </a:t>
            </a:r>
            <a:r>
              <a:rPr lang="it-IT" sz="1500" b="1" dirty="0" err="1">
                <a:latin typeface="Arial"/>
                <a:cs typeface="Arial"/>
              </a:rPr>
              <a:t>SoA</a:t>
            </a:r>
            <a:r>
              <a:rPr lang="it-IT" sz="1500" b="1" dirty="0">
                <a:latin typeface="Arial"/>
                <a:cs typeface="Arial"/>
              </a:rPr>
              <a:t> più efficiente</a:t>
            </a:r>
          </a:p>
        </p:txBody>
      </p:sp>
      <p:sp>
        <p:nvSpPr>
          <p:cNvPr id="9" name="CasellaDiTesto 9">
            <a:extLst>
              <a:ext uri="{FF2B5EF4-FFF2-40B4-BE49-F238E27FC236}">
                <a16:creationId xmlns:a16="http://schemas.microsoft.com/office/drawing/2014/main" id="{E6F4BD1A-BFDC-0B8E-8105-9DC064939C9B}"/>
              </a:ext>
            </a:extLst>
          </p:cNvPr>
          <p:cNvSpPr txBox="1"/>
          <p:nvPr/>
        </p:nvSpPr>
        <p:spPr>
          <a:xfrm>
            <a:off x="7365999" y="51433"/>
            <a:ext cx="13278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800" b="1" dirty="0" err="1">
                <a:solidFill>
                  <a:schemeClr val="bg1"/>
                </a:solidFill>
                <a:latin typeface="Arial"/>
                <a:cs typeface="Arial"/>
              </a:rPr>
              <a:t>Parallel</a:t>
            </a:r>
            <a:r>
              <a:rPr lang="it-IT" sz="800" b="1" dirty="0">
                <a:solidFill>
                  <a:schemeClr val="bg1"/>
                </a:solidFill>
                <a:latin typeface="Arial"/>
                <a:cs typeface="Arial"/>
              </a:rPr>
              <a:t> Kernel Image Processing</a:t>
            </a:r>
          </a:p>
        </p:txBody>
      </p:sp>
      <p:sp>
        <p:nvSpPr>
          <p:cNvPr id="16" name="CasellaDiTesto 13">
            <a:extLst>
              <a:ext uri="{FF2B5EF4-FFF2-40B4-BE49-F238E27FC236}">
                <a16:creationId xmlns:a16="http://schemas.microsoft.com/office/drawing/2014/main" id="{3FD5E43D-CE09-F0BB-4A99-1BC383E62FCC}"/>
              </a:ext>
            </a:extLst>
          </p:cNvPr>
          <p:cNvSpPr txBox="1"/>
          <p:nvPr/>
        </p:nvSpPr>
        <p:spPr>
          <a:xfrm>
            <a:off x="7648765" y="403482"/>
            <a:ext cx="10550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800" dirty="0" err="1">
                <a:solidFill>
                  <a:schemeClr val="bg1"/>
                </a:solidFill>
                <a:latin typeface="Arial"/>
                <a:cs typeface="Arial"/>
              </a:rPr>
              <a:t>Parallel</a:t>
            </a:r>
            <a:r>
              <a:rPr lang="it-IT" sz="800" dirty="0">
                <a:solidFill>
                  <a:schemeClr val="bg1"/>
                </a:solidFill>
                <a:latin typeface="Arial"/>
                <a:cs typeface="Arial"/>
              </a:rPr>
              <a:t> Computing</a:t>
            </a:r>
          </a:p>
        </p:txBody>
      </p:sp>
    </p:spTree>
    <p:extLst>
      <p:ext uri="{BB962C8B-B14F-4D97-AF65-F5344CB8AC3E}">
        <p14:creationId xmlns:p14="http://schemas.microsoft.com/office/powerpoint/2010/main" val="1698649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D92F2-E476-546A-E046-E7C7F4AA2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19EB43CF-4261-C63A-D7EE-591CB6178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07"/>
            <a:ext cx="9180512" cy="6872633"/>
          </a:xfrm>
          <a:prstGeom prst="rect">
            <a:avLst/>
          </a:prstGeom>
        </p:spPr>
      </p:pic>
      <p:sp>
        <p:nvSpPr>
          <p:cNvPr id="12" name="Rettangolo 11">
            <a:extLst>
              <a:ext uri="{FF2B5EF4-FFF2-40B4-BE49-F238E27FC236}">
                <a16:creationId xmlns:a16="http://schemas.microsoft.com/office/drawing/2014/main" id="{779913F1-2697-3679-CDB9-F8C6E6AD093A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8CC30137-1483-E707-143E-0995900C3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9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5" name="Titolo">
            <a:extLst>
              <a:ext uri="{FF2B5EF4-FFF2-40B4-BE49-F238E27FC236}">
                <a16:creationId xmlns:a16="http://schemas.microsoft.com/office/drawing/2014/main" id="{8CB347A6-FA3F-29E3-2BA1-31A5F2311A87}"/>
              </a:ext>
            </a:extLst>
          </p:cNvPr>
          <p:cNvSpPr txBox="1"/>
          <p:nvPr/>
        </p:nvSpPr>
        <p:spPr>
          <a:xfrm>
            <a:off x="582704" y="942458"/>
            <a:ext cx="7819027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it-IT" sz="2600" b="1" dirty="0">
                <a:solidFill>
                  <a:srgbClr val="003053"/>
                </a:solidFill>
                <a:latin typeface="Arial"/>
                <a:cs typeface="Arial"/>
              </a:rPr>
              <a:t>Setup dei benchmark</a:t>
            </a:r>
          </a:p>
        </p:txBody>
      </p:sp>
      <p:sp>
        <p:nvSpPr>
          <p:cNvPr id="15" name="CasellaDiTesto 7">
            <a:extLst>
              <a:ext uri="{FF2B5EF4-FFF2-40B4-BE49-F238E27FC236}">
                <a16:creationId xmlns:a16="http://schemas.microsoft.com/office/drawing/2014/main" id="{B0365D96-61D6-8FB4-355B-5DB5B5F6AACF}"/>
              </a:ext>
            </a:extLst>
          </p:cNvPr>
          <p:cNvSpPr txBox="1"/>
          <p:nvPr/>
        </p:nvSpPr>
        <p:spPr>
          <a:xfrm>
            <a:off x="648252" y="3690969"/>
            <a:ext cx="3580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latin typeface="Arial"/>
                <a:cs typeface="Arial"/>
              </a:rPr>
              <a:t>Hardware</a:t>
            </a:r>
            <a:r>
              <a:rPr lang="it-IT" dirty="0">
                <a:latin typeface="Arial"/>
                <a:cs typeface="Arial"/>
              </a:rPr>
              <a:t> </a:t>
            </a:r>
            <a:r>
              <a:rPr lang="it-IT" b="1" dirty="0">
                <a:latin typeface="Arial"/>
                <a:cs typeface="Arial"/>
              </a:rPr>
              <a:t>utilizzato</a:t>
            </a:r>
          </a:p>
        </p:txBody>
      </p:sp>
      <p:sp>
        <p:nvSpPr>
          <p:cNvPr id="17" name="CasellaDiTesto 7">
            <a:extLst>
              <a:ext uri="{FF2B5EF4-FFF2-40B4-BE49-F238E27FC236}">
                <a16:creationId xmlns:a16="http://schemas.microsoft.com/office/drawing/2014/main" id="{72139A78-FC2D-95A6-5B73-CD340BD9B204}"/>
              </a:ext>
            </a:extLst>
          </p:cNvPr>
          <p:cNvSpPr txBox="1"/>
          <p:nvPr/>
        </p:nvSpPr>
        <p:spPr>
          <a:xfrm>
            <a:off x="630760" y="1669785"/>
            <a:ext cx="3191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latin typeface="Arial"/>
                <a:cs typeface="Arial"/>
              </a:rPr>
              <a:t>Dataset e misurazioni</a:t>
            </a:r>
          </a:p>
        </p:txBody>
      </p:sp>
      <p:sp>
        <p:nvSpPr>
          <p:cNvPr id="19" name="Corpo">
            <a:extLst>
              <a:ext uri="{FF2B5EF4-FFF2-40B4-BE49-F238E27FC236}">
                <a16:creationId xmlns:a16="http://schemas.microsoft.com/office/drawing/2014/main" id="{FF591A47-E9DB-CEC4-B26C-909FFCC4D3D0}"/>
              </a:ext>
            </a:extLst>
          </p:cNvPr>
          <p:cNvSpPr txBox="1"/>
          <p:nvPr/>
        </p:nvSpPr>
        <p:spPr>
          <a:xfrm>
            <a:off x="582704" y="4060301"/>
            <a:ext cx="4046492" cy="252357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Arial"/>
                <a:cs typeface="Arial"/>
              </a:rPr>
              <a:t>CPU</a:t>
            </a:r>
            <a:r>
              <a:rPr lang="it-IT" sz="1500" b="0" dirty="0">
                <a:latin typeface="Arial"/>
                <a:cs typeface="Arial"/>
              </a:rPr>
              <a:t> → </a:t>
            </a:r>
            <a:r>
              <a:rPr lang="it-IT" sz="1500" b="0" i="1" dirty="0">
                <a:latin typeface="Arial"/>
                <a:cs typeface="Arial"/>
              </a:rPr>
              <a:t>AMD Ryzen 7 3700X 8-Core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RAM → 16 GB DDR4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Arial"/>
                <a:cs typeface="Arial"/>
              </a:rPr>
              <a:t>GPU</a:t>
            </a:r>
            <a:r>
              <a:rPr lang="it-IT" sz="1500" b="0" dirty="0">
                <a:latin typeface="Arial"/>
                <a:cs typeface="Arial"/>
              </a:rPr>
              <a:t> → </a:t>
            </a:r>
            <a:r>
              <a:rPr lang="it-IT" sz="1500" b="0" i="1" dirty="0">
                <a:latin typeface="Arial"/>
                <a:cs typeface="Arial"/>
              </a:rPr>
              <a:t>NVIDIA RTX 3060 Ti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Sistema operativo → Windows 10</a:t>
            </a:r>
          </a:p>
        </p:txBody>
      </p:sp>
      <p:sp>
        <p:nvSpPr>
          <p:cNvPr id="21" name="Corpo">
            <a:extLst>
              <a:ext uri="{FF2B5EF4-FFF2-40B4-BE49-F238E27FC236}">
                <a16:creationId xmlns:a16="http://schemas.microsoft.com/office/drawing/2014/main" id="{B9705168-CCAC-9FF5-EF28-6F384A8236CE}"/>
              </a:ext>
            </a:extLst>
          </p:cNvPr>
          <p:cNvSpPr txBox="1"/>
          <p:nvPr/>
        </p:nvSpPr>
        <p:spPr>
          <a:xfrm>
            <a:off x="582704" y="2050411"/>
            <a:ext cx="4967196" cy="15881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Immagini </a:t>
            </a:r>
            <a:r>
              <a:rPr lang="it-IT" sz="1500" dirty="0">
                <a:latin typeface="Arial"/>
                <a:cs typeface="Arial"/>
              </a:rPr>
              <a:t>16:9 con </a:t>
            </a:r>
            <a:r>
              <a:rPr lang="it-IT" sz="1500" b="1" dirty="0">
                <a:latin typeface="Arial"/>
                <a:cs typeface="Arial"/>
              </a:rPr>
              <a:t>dimensioni standard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Arial"/>
                <a:cs typeface="Arial"/>
              </a:rPr>
              <a:t>50 misurazioni </a:t>
            </a:r>
            <a:r>
              <a:rPr lang="it-IT" sz="1500" b="0" dirty="0">
                <a:latin typeface="Arial"/>
                <a:cs typeface="Arial"/>
              </a:rPr>
              <a:t>per immagine (per ogni configurazione)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Arial"/>
                <a:cs typeface="Arial"/>
              </a:rPr>
              <a:t>Mediana</a:t>
            </a:r>
            <a:r>
              <a:rPr lang="it-IT" sz="1500" b="0" dirty="0">
                <a:latin typeface="Arial"/>
                <a:cs typeface="Arial"/>
              </a:rPr>
              <a:t> dei </a:t>
            </a:r>
            <a:r>
              <a:rPr lang="it-IT" sz="1500" dirty="0">
                <a:latin typeface="Arial"/>
                <a:cs typeface="Arial"/>
              </a:rPr>
              <a:t>valori → maggiore </a:t>
            </a:r>
            <a:r>
              <a:rPr lang="it-IT" sz="1500" b="1" dirty="0">
                <a:latin typeface="Arial"/>
                <a:cs typeface="Arial"/>
              </a:rPr>
              <a:t>resistenza agli </a:t>
            </a:r>
            <a:r>
              <a:rPr lang="it-IT" sz="1500" b="1" dirty="0" err="1">
                <a:latin typeface="Arial"/>
                <a:cs typeface="Arial"/>
              </a:rPr>
              <a:t>outliers</a:t>
            </a:r>
            <a:endParaRPr lang="it-IT" sz="1500" b="1" dirty="0">
              <a:latin typeface="Arial"/>
              <a:cs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0C64F86-AC69-624C-58A6-1F8A32851C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513103"/>
              </p:ext>
            </p:extLst>
          </p:nvPr>
        </p:nvGraphicFramePr>
        <p:xfrm>
          <a:off x="5321303" y="1579721"/>
          <a:ext cx="3365499" cy="291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1833">
                  <a:extLst>
                    <a:ext uri="{9D8B030D-6E8A-4147-A177-3AD203B41FA5}">
                      <a16:colId xmlns:a16="http://schemas.microsoft.com/office/drawing/2014/main" val="201342885"/>
                    </a:ext>
                  </a:extLst>
                </a:gridCol>
                <a:gridCol w="1121833">
                  <a:extLst>
                    <a:ext uri="{9D8B030D-6E8A-4147-A177-3AD203B41FA5}">
                      <a16:colId xmlns:a16="http://schemas.microsoft.com/office/drawing/2014/main" val="673735957"/>
                    </a:ext>
                  </a:extLst>
                </a:gridCol>
                <a:gridCol w="1121833">
                  <a:extLst>
                    <a:ext uri="{9D8B030D-6E8A-4147-A177-3AD203B41FA5}">
                      <a16:colId xmlns:a16="http://schemas.microsoft.com/office/drawing/2014/main" val="3682946586"/>
                    </a:ext>
                  </a:extLst>
                </a:gridCol>
              </a:tblGrid>
              <a:tr h="2408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dirty="0">
                          <a:solidFill>
                            <a:schemeClr val="bg1"/>
                          </a:solidFill>
                        </a:rPr>
                        <a:t>Nome</a:t>
                      </a:r>
                    </a:p>
                  </a:txBody>
                  <a:tcPr marL="60223" marR="60223" marT="30112" marB="30112" anchor="ctr">
                    <a:solidFill>
                      <a:srgbClr val="1349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200" dirty="0">
                          <a:solidFill>
                            <a:schemeClr val="bg1"/>
                          </a:solidFill>
                        </a:rPr>
                        <a:t>Risoluzione</a:t>
                      </a:r>
                    </a:p>
                  </a:txBody>
                  <a:tcPr marL="60223" marR="60223" marT="30112" marB="30112" anchor="ctr">
                    <a:solidFill>
                      <a:srgbClr val="1349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200" dirty="0">
                          <a:solidFill>
                            <a:schemeClr val="bg1"/>
                          </a:solidFill>
                        </a:rPr>
                        <a:t>Numero di pixel</a:t>
                      </a:r>
                    </a:p>
                  </a:txBody>
                  <a:tcPr marL="60223" marR="60223" marT="30112" marB="30112" anchor="ctr">
                    <a:solidFill>
                      <a:srgbClr val="1349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852940"/>
                  </a:ext>
                </a:extLst>
              </a:tr>
              <a:tr h="2408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 dirty="0" err="1"/>
                        <a:t>nHD</a:t>
                      </a:r>
                      <a:endParaRPr lang="it-IT" sz="1200" dirty="0"/>
                    </a:p>
                  </a:txBody>
                  <a:tcPr marL="60223" marR="60223" marT="30112" marB="3011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200"/>
                        <a:t>640 × 360</a:t>
                      </a:r>
                    </a:p>
                  </a:txBody>
                  <a:tcPr marL="60223" marR="60223" marT="30112" marB="3011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200"/>
                        <a:t>230.400</a:t>
                      </a:r>
                    </a:p>
                  </a:txBody>
                  <a:tcPr marL="60223" marR="60223" marT="30112" marB="30112" anchor="ctr"/>
                </a:tc>
                <a:extLst>
                  <a:ext uri="{0D108BD9-81ED-4DB2-BD59-A6C34878D82A}">
                    <a16:rowId xmlns:a16="http://schemas.microsoft.com/office/drawing/2014/main" val="3474595841"/>
                  </a:ext>
                </a:extLst>
              </a:tr>
              <a:tr h="2408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/>
                        <a:t>qHD</a:t>
                      </a:r>
                    </a:p>
                  </a:txBody>
                  <a:tcPr marL="60223" marR="60223" marT="30112" marB="3011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200"/>
                        <a:t>960 × 540</a:t>
                      </a:r>
                    </a:p>
                  </a:txBody>
                  <a:tcPr marL="60223" marR="60223" marT="30112" marB="3011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200" dirty="0"/>
                        <a:t>518.400</a:t>
                      </a:r>
                    </a:p>
                  </a:txBody>
                  <a:tcPr marL="60223" marR="60223" marT="30112" marB="30112" anchor="ctr"/>
                </a:tc>
                <a:extLst>
                  <a:ext uri="{0D108BD9-81ED-4DB2-BD59-A6C34878D82A}">
                    <a16:rowId xmlns:a16="http://schemas.microsoft.com/office/drawing/2014/main" val="2456593910"/>
                  </a:ext>
                </a:extLst>
              </a:tr>
              <a:tr h="2408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/>
                        <a:t>HD</a:t>
                      </a:r>
                    </a:p>
                  </a:txBody>
                  <a:tcPr marL="60223" marR="60223" marT="30112" marB="3011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200" dirty="0"/>
                        <a:t>1280 × 720</a:t>
                      </a:r>
                    </a:p>
                  </a:txBody>
                  <a:tcPr marL="60223" marR="60223" marT="30112" marB="3011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200"/>
                        <a:t>921.600</a:t>
                      </a:r>
                    </a:p>
                  </a:txBody>
                  <a:tcPr marL="60223" marR="60223" marT="30112" marB="30112" anchor="ctr"/>
                </a:tc>
                <a:extLst>
                  <a:ext uri="{0D108BD9-81ED-4DB2-BD59-A6C34878D82A}">
                    <a16:rowId xmlns:a16="http://schemas.microsoft.com/office/drawing/2014/main" val="3710066432"/>
                  </a:ext>
                </a:extLst>
              </a:tr>
              <a:tr h="2408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/>
                        <a:t>WXGA</a:t>
                      </a:r>
                    </a:p>
                  </a:txBody>
                  <a:tcPr marL="60223" marR="60223" marT="30112" marB="3011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200"/>
                        <a:t>1366 × 768</a:t>
                      </a:r>
                    </a:p>
                  </a:txBody>
                  <a:tcPr marL="60223" marR="60223" marT="30112" marB="3011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200"/>
                        <a:t>1.049.088</a:t>
                      </a:r>
                    </a:p>
                  </a:txBody>
                  <a:tcPr marL="60223" marR="60223" marT="30112" marB="30112" anchor="ctr"/>
                </a:tc>
                <a:extLst>
                  <a:ext uri="{0D108BD9-81ED-4DB2-BD59-A6C34878D82A}">
                    <a16:rowId xmlns:a16="http://schemas.microsoft.com/office/drawing/2014/main" val="2517380447"/>
                  </a:ext>
                </a:extLst>
              </a:tr>
              <a:tr h="2408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/>
                        <a:t>HD+</a:t>
                      </a:r>
                    </a:p>
                  </a:txBody>
                  <a:tcPr marL="60223" marR="60223" marT="30112" marB="3011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200"/>
                        <a:t>1600 × 900</a:t>
                      </a:r>
                    </a:p>
                  </a:txBody>
                  <a:tcPr marL="60223" marR="60223" marT="30112" marB="3011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200"/>
                        <a:t>1.440.000</a:t>
                      </a:r>
                    </a:p>
                  </a:txBody>
                  <a:tcPr marL="60223" marR="60223" marT="30112" marB="30112" anchor="ctr"/>
                </a:tc>
                <a:extLst>
                  <a:ext uri="{0D108BD9-81ED-4DB2-BD59-A6C34878D82A}">
                    <a16:rowId xmlns:a16="http://schemas.microsoft.com/office/drawing/2014/main" val="3263649601"/>
                  </a:ext>
                </a:extLst>
              </a:tr>
              <a:tr h="2408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/>
                        <a:t>Full HD</a:t>
                      </a:r>
                    </a:p>
                  </a:txBody>
                  <a:tcPr marL="60223" marR="60223" marT="30112" marB="3011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200"/>
                        <a:t>1920 × 1080</a:t>
                      </a:r>
                    </a:p>
                  </a:txBody>
                  <a:tcPr marL="60223" marR="60223" marT="30112" marB="3011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200"/>
                        <a:t>2.073.600</a:t>
                      </a:r>
                    </a:p>
                  </a:txBody>
                  <a:tcPr marL="60223" marR="60223" marT="30112" marB="30112" anchor="ctr"/>
                </a:tc>
                <a:extLst>
                  <a:ext uri="{0D108BD9-81ED-4DB2-BD59-A6C34878D82A}">
                    <a16:rowId xmlns:a16="http://schemas.microsoft.com/office/drawing/2014/main" val="1806445865"/>
                  </a:ext>
                </a:extLst>
              </a:tr>
              <a:tr h="2408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/>
                        <a:t>QHD</a:t>
                      </a:r>
                    </a:p>
                  </a:txBody>
                  <a:tcPr marL="60223" marR="60223" marT="30112" marB="3011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200"/>
                        <a:t>2560 × 1440</a:t>
                      </a:r>
                    </a:p>
                  </a:txBody>
                  <a:tcPr marL="60223" marR="60223" marT="30112" marB="3011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200"/>
                        <a:t>3.686.400</a:t>
                      </a:r>
                    </a:p>
                  </a:txBody>
                  <a:tcPr marL="60223" marR="60223" marT="30112" marB="30112" anchor="ctr"/>
                </a:tc>
                <a:extLst>
                  <a:ext uri="{0D108BD9-81ED-4DB2-BD59-A6C34878D82A}">
                    <a16:rowId xmlns:a16="http://schemas.microsoft.com/office/drawing/2014/main" val="75161695"/>
                  </a:ext>
                </a:extLst>
              </a:tr>
              <a:tr h="2408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/>
                        <a:t>4K UHD</a:t>
                      </a:r>
                    </a:p>
                  </a:txBody>
                  <a:tcPr marL="60223" marR="60223" marT="30112" marB="3011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200"/>
                        <a:t>3840 × 2160</a:t>
                      </a:r>
                    </a:p>
                  </a:txBody>
                  <a:tcPr marL="60223" marR="60223" marT="30112" marB="3011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200"/>
                        <a:t>8.294.400</a:t>
                      </a:r>
                    </a:p>
                  </a:txBody>
                  <a:tcPr marL="60223" marR="60223" marT="30112" marB="30112" anchor="ctr"/>
                </a:tc>
                <a:extLst>
                  <a:ext uri="{0D108BD9-81ED-4DB2-BD59-A6C34878D82A}">
                    <a16:rowId xmlns:a16="http://schemas.microsoft.com/office/drawing/2014/main" val="1938476660"/>
                  </a:ext>
                </a:extLst>
              </a:tr>
              <a:tr h="2408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/>
                        <a:t>5K</a:t>
                      </a:r>
                    </a:p>
                  </a:txBody>
                  <a:tcPr marL="60223" marR="60223" marT="30112" marB="3011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200"/>
                        <a:t>5120 × 2880</a:t>
                      </a:r>
                    </a:p>
                  </a:txBody>
                  <a:tcPr marL="60223" marR="60223" marT="30112" marB="3011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200"/>
                        <a:t>14.745.600</a:t>
                      </a:r>
                    </a:p>
                  </a:txBody>
                  <a:tcPr marL="60223" marR="60223" marT="30112" marB="30112" anchor="ctr"/>
                </a:tc>
                <a:extLst>
                  <a:ext uri="{0D108BD9-81ED-4DB2-BD59-A6C34878D82A}">
                    <a16:rowId xmlns:a16="http://schemas.microsoft.com/office/drawing/2014/main" val="4167750194"/>
                  </a:ext>
                </a:extLst>
              </a:tr>
              <a:tr h="2408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/>
                        <a:t>8K UHD</a:t>
                      </a:r>
                    </a:p>
                  </a:txBody>
                  <a:tcPr marL="60223" marR="60223" marT="30112" marB="3011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200"/>
                        <a:t>7680 × 4320</a:t>
                      </a:r>
                    </a:p>
                  </a:txBody>
                  <a:tcPr marL="60223" marR="60223" marT="30112" marB="3011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200"/>
                        <a:t>33.177.600</a:t>
                      </a:r>
                    </a:p>
                  </a:txBody>
                  <a:tcPr marL="60223" marR="60223" marT="30112" marB="30112" anchor="ctr"/>
                </a:tc>
                <a:extLst>
                  <a:ext uri="{0D108BD9-81ED-4DB2-BD59-A6C34878D82A}">
                    <a16:rowId xmlns:a16="http://schemas.microsoft.com/office/drawing/2014/main" val="1741154068"/>
                  </a:ext>
                </a:extLst>
              </a:tr>
              <a:tr h="2408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200"/>
                        <a:t>16K UHD</a:t>
                      </a:r>
                    </a:p>
                  </a:txBody>
                  <a:tcPr marL="60223" marR="60223" marT="30112" marB="3011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200" dirty="0"/>
                        <a:t>15360 × 8640</a:t>
                      </a:r>
                    </a:p>
                  </a:txBody>
                  <a:tcPr marL="60223" marR="60223" marT="30112" marB="3011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200" dirty="0"/>
                        <a:t>132.710.400</a:t>
                      </a:r>
                    </a:p>
                  </a:txBody>
                  <a:tcPr marL="60223" marR="60223" marT="30112" marB="30112" anchor="ctr"/>
                </a:tc>
                <a:extLst>
                  <a:ext uri="{0D108BD9-81ED-4DB2-BD59-A6C34878D82A}">
                    <a16:rowId xmlns:a16="http://schemas.microsoft.com/office/drawing/2014/main" val="841046347"/>
                  </a:ext>
                </a:extLst>
              </a:tr>
            </a:tbl>
          </a:graphicData>
        </a:graphic>
      </p:graphicFrame>
      <p:sp>
        <p:nvSpPr>
          <p:cNvPr id="6" name="Corpo">
            <a:extLst>
              <a:ext uri="{FF2B5EF4-FFF2-40B4-BE49-F238E27FC236}">
                <a16:creationId xmlns:a16="http://schemas.microsoft.com/office/drawing/2014/main" id="{33F74397-45FE-74F2-98C1-D8C1B7C37A0F}"/>
              </a:ext>
            </a:extLst>
          </p:cNvPr>
          <p:cNvSpPr txBox="1"/>
          <p:nvPr/>
        </p:nvSpPr>
        <p:spPr>
          <a:xfrm>
            <a:off x="5549899" y="4570393"/>
            <a:ext cx="2921001" cy="42158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ts val="600"/>
              </a:spcBef>
            </a:pPr>
            <a:r>
              <a:rPr lang="it-IT" sz="1100" b="0" dirty="0">
                <a:latin typeface="Arial"/>
                <a:cs typeface="Arial"/>
              </a:rPr>
              <a:t>Tabella con risoluzioni delle immagini utilizzate nei test</a:t>
            </a:r>
            <a:endParaRPr lang="it-IT" sz="1050" b="0" i="1" dirty="0">
              <a:latin typeface="Arial"/>
              <a:cs typeface="Arial"/>
            </a:endParaRPr>
          </a:p>
        </p:txBody>
      </p:sp>
      <p:sp>
        <p:nvSpPr>
          <p:cNvPr id="8" name="CasellaDiTesto 9">
            <a:extLst>
              <a:ext uri="{FF2B5EF4-FFF2-40B4-BE49-F238E27FC236}">
                <a16:creationId xmlns:a16="http://schemas.microsoft.com/office/drawing/2014/main" id="{D4F951B6-E23F-F34B-DE4A-D27CFAC51F6C}"/>
              </a:ext>
            </a:extLst>
          </p:cNvPr>
          <p:cNvSpPr txBox="1"/>
          <p:nvPr/>
        </p:nvSpPr>
        <p:spPr>
          <a:xfrm>
            <a:off x="7365999" y="51433"/>
            <a:ext cx="13278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800" b="1" dirty="0" err="1">
                <a:solidFill>
                  <a:schemeClr val="bg1"/>
                </a:solidFill>
                <a:latin typeface="Arial"/>
                <a:cs typeface="Arial"/>
              </a:rPr>
              <a:t>Parallel</a:t>
            </a:r>
            <a:r>
              <a:rPr lang="it-IT" sz="800" b="1" dirty="0">
                <a:solidFill>
                  <a:schemeClr val="bg1"/>
                </a:solidFill>
                <a:latin typeface="Arial"/>
                <a:cs typeface="Arial"/>
              </a:rPr>
              <a:t> Kernel Image Processing</a:t>
            </a:r>
          </a:p>
        </p:txBody>
      </p:sp>
      <p:sp>
        <p:nvSpPr>
          <p:cNvPr id="13" name="CasellaDiTesto 13">
            <a:extLst>
              <a:ext uri="{FF2B5EF4-FFF2-40B4-BE49-F238E27FC236}">
                <a16:creationId xmlns:a16="http://schemas.microsoft.com/office/drawing/2014/main" id="{9C8FB390-FEE0-EE71-1326-AB94ABB11006}"/>
              </a:ext>
            </a:extLst>
          </p:cNvPr>
          <p:cNvSpPr txBox="1"/>
          <p:nvPr/>
        </p:nvSpPr>
        <p:spPr>
          <a:xfrm>
            <a:off x="7648765" y="403482"/>
            <a:ext cx="10550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800" dirty="0" err="1">
                <a:solidFill>
                  <a:schemeClr val="bg1"/>
                </a:solidFill>
                <a:latin typeface="Arial"/>
                <a:cs typeface="Arial"/>
              </a:rPr>
              <a:t>Parallel</a:t>
            </a:r>
            <a:r>
              <a:rPr lang="it-IT" sz="800" dirty="0">
                <a:solidFill>
                  <a:schemeClr val="bg1"/>
                </a:solidFill>
                <a:latin typeface="Arial"/>
                <a:cs typeface="Arial"/>
              </a:rPr>
              <a:t> Computing</a:t>
            </a:r>
          </a:p>
        </p:txBody>
      </p:sp>
    </p:spTree>
    <p:extLst>
      <p:ext uri="{BB962C8B-B14F-4D97-AF65-F5344CB8AC3E}">
        <p14:creationId xmlns:p14="http://schemas.microsoft.com/office/powerpoint/2010/main" val="1889063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9A9BE-597E-CA42-748C-544C884A6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6041FE5F-1C0D-1126-4884-0A6D90EE9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07"/>
            <a:ext cx="9180512" cy="6872633"/>
          </a:xfrm>
          <a:prstGeom prst="rect">
            <a:avLst/>
          </a:prstGeom>
        </p:spPr>
      </p:pic>
      <p:sp>
        <p:nvSpPr>
          <p:cNvPr id="12" name="Rettangolo 11">
            <a:extLst>
              <a:ext uri="{FF2B5EF4-FFF2-40B4-BE49-F238E27FC236}">
                <a16:creationId xmlns:a16="http://schemas.microsoft.com/office/drawing/2014/main" id="{5B2D802D-F797-8496-8266-FF87E116595C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6F6B3CC8-A710-33E2-C550-466E00FFA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10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" name="Titolo">
            <a:extLst>
              <a:ext uri="{FF2B5EF4-FFF2-40B4-BE49-F238E27FC236}">
                <a16:creationId xmlns:a16="http://schemas.microsoft.com/office/drawing/2014/main" id="{B8B8F909-6936-E1BB-4E78-3F1AD60E32D0}"/>
              </a:ext>
            </a:extLst>
          </p:cNvPr>
          <p:cNvSpPr txBox="1"/>
          <p:nvPr/>
        </p:nvSpPr>
        <p:spPr>
          <a:xfrm>
            <a:off x="582704" y="942458"/>
            <a:ext cx="7819027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it-IT" sz="2600" b="1" dirty="0">
                <a:solidFill>
                  <a:srgbClr val="003053"/>
                </a:solidFill>
                <a:latin typeface="Arial"/>
                <a:cs typeface="Arial"/>
              </a:rPr>
              <a:t>Metrica: </a:t>
            </a:r>
            <a:r>
              <a:rPr lang="it-IT" sz="2600" b="1" dirty="0" err="1">
                <a:solidFill>
                  <a:srgbClr val="003053"/>
                </a:solidFill>
                <a:latin typeface="Arial"/>
                <a:cs typeface="Arial"/>
              </a:rPr>
              <a:t>speedup</a:t>
            </a:r>
            <a:endParaRPr lang="it-IT" sz="2600" b="1" dirty="0">
              <a:solidFill>
                <a:srgbClr val="003053"/>
              </a:solidFill>
              <a:latin typeface="Arial"/>
              <a:cs typeface="Arial"/>
            </a:endParaRPr>
          </a:p>
        </p:txBody>
      </p:sp>
      <p:sp>
        <p:nvSpPr>
          <p:cNvPr id="6" name="Corpo">
            <a:extLst>
              <a:ext uri="{FF2B5EF4-FFF2-40B4-BE49-F238E27FC236}">
                <a16:creationId xmlns:a16="http://schemas.microsoft.com/office/drawing/2014/main" id="{A7A8FD0E-E738-6C0E-B1C1-2EA4A9DE3B14}"/>
              </a:ext>
            </a:extLst>
          </p:cNvPr>
          <p:cNvSpPr txBox="1"/>
          <p:nvPr/>
        </p:nvSpPr>
        <p:spPr>
          <a:xfrm>
            <a:off x="584753" y="1725648"/>
            <a:ext cx="7819027" cy="360992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Formula </a:t>
            </a:r>
            <a:r>
              <a:rPr lang="it-IT" sz="1500" b="0" dirty="0" err="1">
                <a:latin typeface="Arial"/>
                <a:cs typeface="Arial"/>
              </a:rPr>
              <a:t>speedup</a:t>
            </a:r>
            <a:r>
              <a:rPr lang="it-IT" sz="1500" b="0" dirty="0">
                <a:latin typeface="Arial"/>
                <a:cs typeface="Arial"/>
              </a:rPr>
              <a:t>:</a:t>
            </a:r>
          </a:p>
          <a:p>
            <a:pPr>
              <a:spcBef>
                <a:spcPts val="600"/>
              </a:spcBef>
            </a:pPr>
            <a:endParaRPr lang="it-IT" sz="1500" b="0" dirty="0">
              <a:latin typeface="Arial"/>
              <a:cs typeface="Arial"/>
            </a:endParaRP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i="1" dirty="0" err="1">
                <a:latin typeface="Arial"/>
                <a:cs typeface="Arial"/>
              </a:rPr>
              <a:t>T</a:t>
            </a:r>
            <a:r>
              <a:rPr lang="it-IT" sz="1500" b="1" i="1" baseline="-25000" dirty="0" err="1">
                <a:latin typeface="Arial"/>
                <a:cs typeface="Arial"/>
              </a:rPr>
              <a:t>seq</a:t>
            </a:r>
            <a:r>
              <a:rPr lang="it-IT" sz="1500" b="0" dirty="0">
                <a:latin typeface="Arial"/>
                <a:cs typeface="Arial"/>
              </a:rPr>
              <a:t> → </a:t>
            </a:r>
            <a:r>
              <a:rPr lang="it-IT" sz="1500" b="1" dirty="0">
                <a:latin typeface="Arial"/>
                <a:cs typeface="Arial"/>
              </a:rPr>
              <a:t>tempo</a:t>
            </a:r>
            <a:r>
              <a:rPr lang="it-IT" sz="1500" b="0" dirty="0">
                <a:latin typeface="Arial"/>
                <a:cs typeface="Arial"/>
              </a:rPr>
              <a:t> della versione </a:t>
            </a:r>
            <a:r>
              <a:rPr lang="it-IT" sz="1500" b="1" dirty="0">
                <a:latin typeface="Arial"/>
                <a:cs typeface="Arial"/>
              </a:rPr>
              <a:t>Base</a:t>
            </a:r>
            <a:r>
              <a:rPr lang="it-IT" sz="1500" b="0" dirty="0">
                <a:latin typeface="Arial"/>
                <a:cs typeface="Arial"/>
              </a:rPr>
              <a:t> (sequenziale)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i="1" dirty="0" err="1">
                <a:latin typeface="Arial"/>
                <a:cs typeface="Arial"/>
              </a:rPr>
              <a:t>T</a:t>
            </a:r>
            <a:r>
              <a:rPr lang="it-IT" sz="1500" b="1" i="1" baseline="-25000" dirty="0" err="1">
                <a:latin typeface="Arial"/>
                <a:cs typeface="Arial"/>
              </a:rPr>
              <a:t>par</a:t>
            </a:r>
            <a:r>
              <a:rPr lang="it-IT" sz="1500" b="0" dirty="0">
                <a:latin typeface="Arial"/>
                <a:cs typeface="Arial"/>
              </a:rPr>
              <a:t> → </a:t>
            </a:r>
            <a:r>
              <a:rPr lang="it-IT" sz="1500" b="1" dirty="0">
                <a:latin typeface="Arial"/>
                <a:cs typeface="Arial"/>
              </a:rPr>
              <a:t>tempo</a:t>
            </a:r>
            <a:r>
              <a:rPr lang="it-IT" sz="1500" b="0" dirty="0">
                <a:latin typeface="Arial"/>
                <a:cs typeface="Arial"/>
              </a:rPr>
              <a:t> della </a:t>
            </a:r>
            <a:r>
              <a:rPr lang="it-IT" sz="1500" b="1" dirty="0">
                <a:latin typeface="Arial"/>
                <a:cs typeface="Arial"/>
              </a:rPr>
              <a:t>configurazione</a:t>
            </a:r>
            <a:r>
              <a:rPr lang="it-IT" sz="1500" b="0" dirty="0">
                <a:latin typeface="Arial"/>
                <a:cs typeface="Arial"/>
              </a:rPr>
              <a:t> in analisi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Confronto a parità di dimensione di immagine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Misurazione ripetuta </a:t>
            </a:r>
            <a:r>
              <a:rPr lang="it-IT" sz="1500" b="1" dirty="0">
                <a:latin typeface="Arial"/>
                <a:cs typeface="Arial"/>
              </a:rPr>
              <a:t>50 volte </a:t>
            </a:r>
            <a:r>
              <a:rPr lang="it-IT" sz="1500" b="0" dirty="0">
                <a:latin typeface="Arial"/>
                <a:cs typeface="Arial"/>
              </a:rPr>
              <a:t>per ogni configurazione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Arial"/>
                <a:cs typeface="Arial"/>
              </a:rPr>
              <a:t>Mediana</a:t>
            </a:r>
            <a:r>
              <a:rPr lang="it-IT" sz="1500" b="0" dirty="0">
                <a:latin typeface="Arial"/>
                <a:cs typeface="Arial"/>
              </a:rPr>
              <a:t> dei valori ottenuti → meno influenza del rumore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endParaRPr lang="it-IT" sz="1500" dirty="0">
              <a:latin typeface="Arial"/>
              <a:cs typeface="Arial"/>
            </a:endParaRP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Tempi di esecuzione molto </a:t>
            </a:r>
            <a:r>
              <a:rPr lang="it-IT" sz="1500" dirty="0">
                <a:latin typeface="Arial"/>
                <a:cs typeface="Arial"/>
              </a:rPr>
              <a:t>brevi → </a:t>
            </a:r>
            <a:r>
              <a:rPr lang="it-IT" sz="1500" i="1" dirty="0">
                <a:latin typeface="Arial"/>
                <a:cs typeface="Arial"/>
              </a:rPr>
              <a:t>millisecondi</a:t>
            </a:r>
            <a:r>
              <a:rPr lang="it-IT" sz="1500" dirty="0">
                <a:latin typeface="Arial"/>
                <a:cs typeface="Arial"/>
              </a:rPr>
              <a:t> </a:t>
            </a:r>
            <a:r>
              <a:rPr lang="it-IT" sz="1500" b="0" dirty="0">
                <a:latin typeface="Arial"/>
                <a:cs typeface="Arial"/>
              </a:rPr>
              <a:t>non </a:t>
            </a:r>
            <a:r>
              <a:rPr lang="it-IT" sz="1500" dirty="0">
                <a:latin typeface="Arial"/>
                <a:cs typeface="Arial"/>
              </a:rPr>
              <a:t>sufficienti → </a:t>
            </a:r>
            <a:r>
              <a:rPr lang="it-IT" sz="1500" b="0" dirty="0">
                <a:latin typeface="Arial"/>
                <a:cs typeface="Arial"/>
              </a:rPr>
              <a:t>misurazione effettuata </a:t>
            </a:r>
            <a:r>
              <a:rPr lang="it-IT" sz="1500" dirty="0">
                <a:latin typeface="Arial"/>
                <a:cs typeface="Arial"/>
              </a:rPr>
              <a:t>in </a:t>
            </a:r>
            <a:r>
              <a:rPr lang="it-IT" sz="1500" i="1" dirty="0">
                <a:latin typeface="Arial"/>
                <a:cs typeface="Arial"/>
              </a:rPr>
              <a:t>microsecondi</a:t>
            </a:r>
            <a:r>
              <a:rPr lang="it-IT" sz="1500" dirty="0">
                <a:latin typeface="Arial"/>
                <a:cs typeface="Arial"/>
              </a:rPr>
              <a:t> → convertiti in </a:t>
            </a:r>
            <a:r>
              <a:rPr lang="it-IT" sz="1500" dirty="0" err="1">
                <a:latin typeface="Arial"/>
                <a:cs typeface="Arial"/>
              </a:rPr>
              <a:t>ms</a:t>
            </a:r>
            <a:r>
              <a:rPr lang="it-IT" sz="1500" dirty="0">
                <a:latin typeface="Arial"/>
                <a:cs typeface="Arial"/>
              </a:rPr>
              <a:t> per i grafici</a:t>
            </a:r>
            <a:endParaRPr lang="it-IT" sz="1500" b="0" dirty="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E02267-2DB5-7E36-8630-60DAE1670B11}"/>
                  </a:ext>
                </a:extLst>
              </p:cNvPr>
              <p:cNvSpPr txBox="1"/>
              <p:nvPr/>
            </p:nvSpPr>
            <p:spPr>
              <a:xfrm>
                <a:off x="2635250" y="1624026"/>
                <a:ext cx="854401" cy="5490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it-IT" b="1" i="0" dirty="0" smtClean="0">
                          <a:solidFill>
                            <a:srgbClr val="003053"/>
                          </a:solidFill>
                          <a:latin typeface="Cambria Math" panose="02040503050406030204" pitchFamily="18" charset="0"/>
                          <a:cs typeface="Arial"/>
                        </a:rPr>
                        <m:t>S = </m:t>
                      </m:r>
                      <m:f>
                        <m:fPr>
                          <m:ctrlPr>
                            <a:rPr lang="it-IT" b="1" dirty="0">
                              <a:solidFill>
                                <a:srgbClr val="003053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it-IT" b="1" dirty="0">
                              <a:solidFill>
                                <a:srgbClr val="003053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T</m:t>
                          </m:r>
                          <m:r>
                            <m:rPr>
                              <m:nor/>
                            </m:rPr>
                            <a:rPr lang="it-IT" b="1" baseline="-25000" dirty="0">
                              <a:solidFill>
                                <a:srgbClr val="003053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seq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it-IT" b="1" dirty="0">
                              <a:solidFill>
                                <a:srgbClr val="003053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T</m:t>
                          </m:r>
                          <m:r>
                            <m:rPr>
                              <m:nor/>
                            </m:rPr>
                            <a:rPr lang="it-IT" b="1" i="0" baseline="-25000" dirty="0" smtClean="0">
                              <a:solidFill>
                                <a:srgbClr val="003053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par</m:t>
                          </m:r>
                        </m:den>
                      </m:f>
                    </m:oMath>
                  </m:oMathPara>
                </a14:m>
                <a:endParaRPr lang="it-IT" b="1" dirty="0">
                  <a:solidFill>
                    <a:srgbClr val="003053"/>
                  </a:solidFill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E02267-2DB5-7E36-8630-60DAE1670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250" y="1624026"/>
                <a:ext cx="854401" cy="549061"/>
              </a:xfrm>
              <a:prstGeom prst="rect">
                <a:avLst/>
              </a:prstGeom>
              <a:blipFill>
                <a:blip r:embed="rId4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sellaDiTesto 9">
            <a:extLst>
              <a:ext uri="{FF2B5EF4-FFF2-40B4-BE49-F238E27FC236}">
                <a16:creationId xmlns:a16="http://schemas.microsoft.com/office/drawing/2014/main" id="{F5EA959D-2D9B-C888-BE82-6640311720B3}"/>
              </a:ext>
            </a:extLst>
          </p:cNvPr>
          <p:cNvSpPr txBox="1"/>
          <p:nvPr/>
        </p:nvSpPr>
        <p:spPr>
          <a:xfrm>
            <a:off x="7365999" y="51433"/>
            <a:ext cx="13278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800" b="1" dirty="0" err="1">
                <a:solidFill>
                  <a:schemeClr val="bg1"/>
                </a:solidFill>
                <a:latin typeface="Arial"/>
                <a:cs typeface="Arial"/>
              </a:rPr>
              <a:t>Parallel</a:t>
            </a:r>
            <a:r>
              <a:rPr lang="it-IT" sz="800" b="1" dirty="0">
                <a:solidFill>
                  <a:schemeClr val="bg1"/>
                </a:solidFill>
                <a:latin typeface="Arial"/>
                <a:cs typeface="Arial"/>
              </a:rPr>
              <a:t> Kernel Image Processing</a:t>
            </a:r>
          </a:p>
        </p:txBody>
      </p:sp>
      <p:sp>
        <p:nvSpPr>
          <p:cNvPr id="9" name="CasellaDiTesto 13">
            <a:extLst>
              <a:ext uri="{FF2B5EF4-FFF2-40B4-BE49-F238E27FC236}">
                <a16:creationId xmlns:a16="http://schemas.microsoft.com/office/drawing/2014/main" id="{A72653DD-67D8-4764-7185-124F8B622BE6}"/>
              </a:ext>
            </a:extLst>
          </p:cNvPr>
          <p:cNvSpPr txBox="1"/>
          <p:nvPr/>
        </p:nvSpPr>
        <p:spPr>
          <a:xfrm>
            <a:off x="7648765" y="403482"/>
            <a:ext cx="10550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800" dirty="0" err="1">
                <a:solidFill>
                  <a:schemeClr val="bg1"/>
                </a:solidFill>
                <a:latin typeface="Arial"/>
                <a:cs typeface="Arial"/>
              </a:rPr>
              <a:t>Parallel</a:t>
            </a:r>
            <a:r>
              <a:rPr lang="it-IT" sz="800" dirty="0">
                <a:solidFill>
                  <a:schemeClr val="bg1"/>
                </a:solidFill>
                <a:latin typeface="Arial"/>
                <a:cs typeface="Arial"/>
              </a:rPr>
              <a:t> Computing</a:t>
            </a:r>
          </a:p>
        </p:txBody>
      </p:sp>
    </p:spTree>
    <p:extLst>
      <p:ext uri="{BB962C8B-B14F-4D97-AF65-F5344CB8AC3E}">
        <p14:creationId xmlns:p14="http://schemas.microsoft.com/office/powerpoint/2010/main" val="909795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8292F-5AC7-4B81-BACB-4EE5CF91E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1E4EFDD3-949C-D571-951A-40DDAA981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07"/>
            <a:ext cx="9180512" cy="6872633"/>
          </a:xfrm>
          <a:prstGeom prst="rect">
            <a:avLst/>
          </a:prstGeom>
        </p:spPr>
      </p:pic>
      <p:sp>
        <p:nvSpPr>
          <p:cNvPr id="12" name="Rettangolo 11">
            <a:extLst>
              <a:ext uri="{FF2B5EF4-FFF2-40B4-BE49-F238E27FC236}">
                <a16:creationId xmlns:a16="http://schemas.microsoft.com/office/drawing/2014/main" id="{16F27C78-168F-5B34-78EB-250E205018FB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32215857-66EA-30BB-DFD9-A4D255A54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11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" name="Titolo">
            <a:extLst>
              <a:ext uri="{FF2B5EF4-FFF2-40B4-BE49-F238E27FC236}">
                <a16:creationId xmlns:a16="http://schemas.microsoft.com/office/drawing/2014/main" id="{5979F536-7785-6007-2BC5-61308C4FF39A}"/>
              </a:ext>
            </a:extLst>
          </p:cNvPr>
          <p:cNvSpPr txBox="1"/>
          <p:nvPr/>
        </p:nvSpPr>
        <p:spPr>
          <a:xfrm>
            <a:off x="582704" y="942458"/>
            <a:ext cx="7819027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it-IT" sz="2600" b="1" dirty="0">
                <a:solidFill>
                  <a:srgbClr val="003053"/>
                </a:solidFill>
                <a:latin typeface="Arial"/>
                <a:cs typeface="Arial"/>
              </a:rPr>
              <a:t>Risultati: </a:t>
            </a:r>
            <a:r>
              <a:rPr lang="it-IT" sz="2600" b="1" dirty="0" err="1">
                <a:solidFill>
                  <a:srgbClr val="003053"/>
                </a:solidFill>
                <a:latin typeface="Arial"/>
                <a:cs typeface="Arial"/>
              </a:rPr>
              <a:t>AoS</a:t>
            </a:r>
            <a:r>
              <a:rPr lang="it-IT" sz="2600" b="1" dirty="0">
                <a:solidFill>
                  <a:srgbClr val="003053"/>
                </a:solidFill>
                <a:latin typeface="Arial"/>
                <a:cs typeface="Arial"/>
              </a:rPr>
              <a:t> vs </a:t>
            </a:r>
            <a:r>
              <a:rPr lang="it-IT" sz="2600" b="1" dirty="0" err="1">
                <a:solidFill>
                  <a:srgbClr val="003053"/>
                </a:solidFill>
                <a:latin typeface="Arial"/>
                <a:cs typeface="Arial"/>
              </a:rPr>
              <a:t>SoA</a:t>
            </a:r>
            <a:endParaRPr lang="it-IT" sz="2600" b="1" dirty="0">
              <a:solidFill>
                <a:srgbClr val="003053"/>
              </a:solidFill>
              <a:latin typeface="Arial"/>
              <a:cs typeface="Arial"/>
            </a:endParaRPr>
          </a:p>
        </p:txBody>
      </p:sp>
      <p:sp>
        <p:nvSpPr>
          <p:cNvPr id="6" name="Corpo">
            <a:extLst>
              <a:ext uri="{FF2B5EF4-FFF2-40B4-BE49-F238E27FC236}">
                <a16:creationId xmlns:a16="http://schemas.microsoft.com/office/drawing/2014/main" id="{82AF67F4-63C5-452D-1183-7A38B19AE134}"/>
              </a:ext>
            </a:extLst>
          </p:cNvPr>
          <p:cNvSpPr txBox="1"/>
          <p:nvPr/>
        </p:nvSpPr>
        <p:spPr>
          <a:xfrm>
            <a:off x="447820" y="4510933"/>
            <a:ext cx="4044397" cy="83340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Arial"/>
                <a:cs typeface="Arial"/>
              </a:rPr>
              <a:t>No vettorizzazione </a:t>
            </a:r>
            <a:r>
              <a:rPr lang="it-IT" sz="1500" dirty="0">
                <a:latin typeface="Arial"/>
                <a:cs typeface="Arial"/>
              </a:rPr>
              <a:t>→ </a:t>
            </a:r>
            <a:r>
              <a:rPr lang="it-IT" sz="1500" b="1" dirty="0">
                <a:latin typeface="Arial"/>
                <a:cs typeface="Arial"/>
              </a:rPr>
              <a:t>nessuna differenza </a:t>
            </a:r>
            <a:r>
              <a:rPr lang="it-IT" sz="1500" dirty="0">
                <a:latin typeface="Arial"/>
                <a:cs typeface="Arial"/>
              </a:rPr>
              <a:t>tra i due layout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endParaRPr lang="it-IT" sz="1500" b="0" dirty="0">
              <a:latin typeface="Arial"/>
              <a:cs typeface="Arial"/>
            </a:endParaRP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endParaRPr lang="it-IT" sz="1500" b="0" dirty="0">
              <a:latin typeface="Arial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FA8E6B-F30C-85B3-7881-AF857EC0C3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62" y="1620541"/>
            <a:ext cx="3780178" cy="24055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B3C1D0-EDD6-8218-0FF2-BDCBF7D0FA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9337" y="1620540"/>
            <a:ext cx="3780177" cy="240556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BB9C085-05DF-085B-5CC8-ACF2B9F8C81A}"/>
              </a:ext>
            </a:extLst>
          </p:cNvPr>
          <p:cNvSpPr txBox="1"/>
          <p:nvPr/>
        </p:nvSpPr>
        <p:spPr>
          <a:xfrm>
            <a:off x="4766202" y="4510933"/>
            <a:ext cx="404644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Arial"/>
                <a:cs typeface="Arial"/>
              </a:rPr>
              <a:t>Vettorizzazione</a:t>
            </a:r>
            <a:r>
              <a:rPr lang="it-IT" sz="1500" b="0" dirty="0">
                <a:latin typeface="Arial"/>
                <a:cs typeface="Arial"/>
              </a:rPr>
              <a:t> più efficiente in presenza di operazioni su </a:t>
            </a:r>
            <a:r>
              <a:rPr lang="it-IT" sz="1500" b="1" dirty="0">
                <a:latin typeface="Arial"/>
                <a:cs typeface="Arial"/>
              </a:rPr>
              <a:t>dati contigui </a:t>
            </a:r>
            <a:r>
              <a:rPr lang="it-IT" sz="1500" b="0" dirty="0">
                <a:latin typeface="Arial"/>
                <a:cs typeface="Arial"/>
              </a:rPr>
              <a:t>in memoria → AVX2 sfrutta meglio il </a:t>
            </a:r>
            <a:r>
              <a:rPr lang="it-IT" sz="1500" b="1" dirty="0">
                <a:latin typeface="Arial"/>
                <a:cs typeface="Arial"/>
              </a:rPr>
              <a:t>layout </a:t>
            </a:r>
            <a:r>
              <a:rPr lang="it-IT" sz="1500" b="1" dirty="0" err="1">
                <a:latin typeface="Arial"/>
                <a:cs typeface="Arial"/>
              </a:rPr>
              <a:t>SoA</a:t>
            </a:r>
            <a:r>
              <a:rPr lang="it-IT" sz="1500" b="1" dirty="0">
                <a:latin typeface="Arial"/>
                <a:cs typeface="Arial"/>
              </a:rPr>
              <a:t> </a:t>
            </a:r>
            <a:r>
              <a:rPr lang="it-IT" sz="1500" dirty="0">
                <a:latin typeface="Arial"/>
                <a:cs typeface="Arial"/>
              </a:rPr>
              <a:t>→ </a:t>
            </a:r>
            <a:r>
              <a:rPr lang="it-IT" sz="1500" b="1" dirty="0">
                <a:latin typeface="Arial"/>
                <a:cs typeface="Arial"/>
              </a:rPr>
              <a:t>prestazioni leggermente migliori</a:t>
            </a:r>
          </a:p>
        </p:txBody>
      </p:sp>
      <p:sp>
        <p:nvSpPr>
          <p:cNvPr id="16" name="Corpo">
            <a:extLst>
              <a:ext uri="{FF2B5EF4-FFF2-40B4-BE49-F238E27FC236}">
                <a16:creationId xmlns:a16="http://schemas.microsoft.com/office/drawing/2014/main" id="{86FF4F6A-5E51-DB75-44D8-6A5D4EB8E859}"/>
              </a:ext>
            </a:extLst>
          </p:cNvPr>
          <p:cNvSpPr txBox="1"/>
          <p:nvPr/>
        </p:nvSpPr>
        <p:spPr>
          <a:xfrm>
            <a:off x="582704" y="4024500"/>
            <a:ext cx="3909513" cy="42158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ts val="600"/>
              </a:spcBef>
            </a:pPr>
            <a:r>
              <a:rPr lang="it-IT" sz="1100">
                <a:latin typeface="Arial"/>
                <a:cs typeface="Arial"/>
              </a:rPr>
              <a:t>Grafico tempo impiegato con i due layout SENZA AVX2</a:t>
            </a:r>
            <a:endParaRPr lang="it-IT" sz="1100" dirty="0">
              <a:latin typeface="Arial"/>
              <a:cs typeface="Arial"/>
            </a:endParaRPr>
          </a:p>
        </p:txBody>
      </p:sp>
      <p:sp>
        <p:nvSpPr>
          <p:cNvPr id="18" name="Corpo">
            <a:extLst>
              <a:ext uri="{FF2B5EF4-FFF2-40B4-BE49-F238E27FC236}">
                <a16:creationId xmlns:a16="http://schemas.microsoft.com/office/drawing/2014/main" id="{5B637B44-E1A7-0064-C961-2BBA0202B079}"/>
              </a:ext>
            </a:extLst>
          </p:cNvPr>
          <p:cNvSpPr txBox="1"/>
          <p:nvPr/>
        </p:nvSpPr>
        <p:spPr>
          <a:xfrm>
            <a:off x="4899337" y="4031735"/>
            <a:ext cx="3780177" cy="42158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ts val="600"/>
              </a:spcBef>
            </a:pPr>
            <a:r>
              <a:rPr lang="it-IT" sz="1100" dirty="0">
                <a:latin typeface="Arial"/>
                <a:cs typeface="Arial"/>
              </a:rPr>
              <a:t>Grafico tempo impiegato con i due layout CON AVX2</a:t>
            </a:r>
          </a:p>
        </p:txBody>
      </p:sp>
      <p:sp>
        <p:nvSpPr>
          <p:cNvPr id="20" name="CasellaDiTesto 9">
            <a:extLst>
              <a:ext uri="{FF2B5EF4-FFF2-40B4-BE49-F238E27FC236}">
                <a16:creationId xmlns:a16="http://schemas.microsoft.com/office/drawing/2014/main" id="{51EB0255-4E79-8BB6-84CF-EF2FAEF17172}"/>
              </a:ext>
            </a:extLst>
          </p:cNvPr>
          <p:cNvSpPr txBox="1"/>
          <p:nvPr/>
        </p:nvSpPr>
        <p:spPr>
          <a:xfrm>
            <a:off x="7365999" y="51433"/>
            <a:ext cx="13278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800" b="1" dirty="0" err="1">
                <a:solidFill>
                  <a:schemeClr val="bg1"/>
                </a:solidFill>
                <a:latin typeface="Arial"/>
                <a:cs typeface="Arial"/>
              </a:rPr>
              <a:t>Parallel</a:t>
            </a:r>
            <a:r>
              <a:rPr lang="it-IT" sz="800" b="1" dirty="0">
                <a:solidFill>
                  <a:schemeClr val="bg1"/>
                </a:solidFill>
                <a:latin typeface="Arial"/>
                <a:cs typeface="Arial"/>
              </a:rPr>
              <a:t> Kernel Image Processing</a:t>
            </a:r>
          </a:p>
        </p:txBody>
      </p:sp>
      <p:sp>
        <p:nvSpPr>
          <p:cNvPr id="22" name="CasellaDiTesto 13">
            <a:extLst>
              <a:ext uri="{FF2B5EF4-FFF2-40B4-BE49-F238E27FC236}">
                <a16:creationId xmlns:a16="http://schemas.microsoft.com/office/drawing/2014/main" id="{21ED0EEE-4758-A735-6ED5-0243A1572233}"/>
              </a:ext>
            </a:extLst>
          </p:cNvPr>
          <p:cNvSpPr txBox="1"/>
          <p:nvPr/>
        </p:nvSpPr>
        <p:spPr>
          <a:xfrm>
            <a:off x="7648765" y="403482"/>
            <a:ext cx="10550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800" dirty="0" err="1">
                <a:solidFill>
                  <a:schemeClr val="bg1"/>
                </a:solidFill>
                <a:latin typeface="Arial"/>
                <a:cs typeface="Arial"/>
              </a:rPr>
              <a:t>Parallel</a:t>
            </a:r>
            <a:r>
              <a:rPr lang="it-IT" sz="800" dirty="0">
                <a:solidFill>
                  <a:schemeClr val="bg1"/>
                </a:solidFill>
                <a:latin typeface="Arial"/>
                <a:cs typeface="Arial"/>
              </a:rPr>
              <a:t> Computing</a:t>
            </a:r>
          </a:p>
        </p:txBody>
      </p:sp>
    </p:spTree>
    <p:extLst>
      <p:ext uri="{BB962C8B-B14F-4D97-AF65-F5344CB8AC3E}">
        <p14:creationId xmlns:p14="http://schemas.microsoft.com/office/powerpoint/2010/main" val="1383468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F1EB5-2E65-9CF2-7D17-FFCA99B02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866B48C1-A40B-F5A8-643B-89410BC9F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07"/>
            <a:ext cx="9180512" cy="6872633"/>
          </a:xfrm>
          <a:prstGeom prst="rect">
            <a:avLst/>
          </a:prstGeom>
        </p:spPr>
      </p:pic>
      <p:sp>
        <p:nvSpPr>
          <p:cNvPr id="12" name="Rettangolo 11">
            <a:extLst>
              <a:ext uri="{FF2B5EF4-FFF2-40B4-BE49-F238E27FC236}">
                <a16:creationId xmlns:a16="http://schemas.microsoft.com/office/drawing/2014/main" id="{104D2264-3920-BE35-0C18-C821EF5D2B01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348603A0-0CB8-71D5-8244-6547A31B6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12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" name="Titolo">
            <a:extLst>
              <a:ext uri="{FF2B5EF4-FFF2-40B4-BE49-F238E27FC236}">
                <a16:creationId xmlns:a16="http://schemas.microsoft.com/office/drawing/2014/main" id="{F7F894C0-278A-E68A-9F4B-9C017C744D25}"/>
              </a:ext>
            </a:extLst>
          </p:cNvPr>
          <p:cNvSpPr txBox="1"/>
          <p:nvPr/>
        </p:nvSpPr>
        <p:spPr>
          <a:xfrm>
            <a:off x="582704" y="942458"/>
            <a:ext cx="7819027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it-IT" sz="2600" b="1" dirty="0">
                <a:solidFill>
                  <a:srgbClr val="003053"/>
                </a:solidFill>
                <a:latin typeface="Arial"/>
                <a:cs typeface="Arial"/>
              </a:rPr>
              <a:t>Tempi di esecuzione</a:t>
            </a:r>
          </a:p>
        </p:txBody>
      </p:sp>
      <p:sp>
        <p:nvSpPr>
          <p:cNvPr id="6" name="Corpo">
            <a:extLst>
              <a:ext uri="{FF2B5EF4-FFF2-40B4-BE49-F238E27FC236}">
                <a16:creationId xmlns:a16="http://schemas.microsoft.com/office/drawing/2014/main" id="{F476EF09-64DD-79CD-A50D-E16281D9A38D}"/>
              </a:ext>
            </a:extLst>
          </p:cNvPr>
          <p:cNvSpPr txBox="1"/>
          <p:nvPr/>
        </p:nvSpPr>
        <p:spPr>
          <a:xfrm>
            <a:off x="584753" y="1725648"/>
            <a:ext cx="7819027" cy="178411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0" dirty="0">
                <a:latin typeface="Arial"/>
                <a:cs typeface="Arial"/>
              </a:rPr>
              <a:t>Pixel aumentano → </a:t>
            </a:r>
            <a:r>
              <a:rPr lang="it-IT" sz="1500" b="1" dirty="0">
                <a:latin typeface="Arial"/>
                <a:cs typeface="Arial"/>
              </a:rPr>
              <a:t>tempo aumenta linearmente </a:t>
            </a:r>
            <a:r>
              <a:rPr lang="it-IT" sz="1500" b="0" dirty="0">
                <a:latin typeface="Arial"/>
                <a:cs typeface="Arial"/>
              </a:rPr>
              <a:t>→ </a:t>
            </a:r>
            <a:r>
              <a:rPr lang="it-IT" sz="1500" b="1" dirty="0">
                <a:latin typeface="Arial"/>
                <a:cs typeface="Arial"/>
              </a:rPr>
              <a:t>complessità O(N)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Arial"/>
                <a:cs typeface="Arial"/>
              </a:rPr>
              <a:t>Base</a:t>
            </a:r>
            <a:r>
              <a:rPr lang="it-IT" sz="1500" b="0" dirty="0">
                <a:latin typeface="Arial"/>
                <a:cs typeface="Arial"/>
              </a:rPr>
              <a:t> → più </a:t>
            </a:r>
            <a:r>
              <a:rPr lang="it-IT" sz="1500" b="1" dirty="0">
                <a:latin typeface="Arial"/>
                <a:cs typeface="Arial"/>
              </a:rPr>
              <a:t>lenta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 err="1">
                <a:latin typeface="Arial"/>
                <a:cs typeface="Arial"/>
              </a:rPr>
              <a:t>OpenMP</a:t>
            </a:r>
            <a:r>
              <a:rPr lang="it-IT" sz="1500" b="0" dirty="0">
                <a:latin typeface="Arial"/>
                <a:cs typeface="Arial"/>
              </a:rPr>
              <a:t> più veloce di </a:t>
            </a:r>
            <a:r>
              <a:rPr lang="it-IT" sz="1500" b="1" dirty="0">
                <a:latin typeface="Arial"/>
                <a:cs typeface="Arial"/>
              </a:rPr>
              <a:t>AVX2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 err="1">
                <a:latin typeface="Arial"/>
                <a:cs typeface="Arial"/>
              </a:rPr>
              <a:t>OpenMP</a:t>
            </a:r>
            <a:r>
              <a:rPr lang="it-IT" sz="1500" b="1" dirty="0">
                <a:latin typeface="Arial"/>
                <a:cs typeface="Arial"/>
              </a:rPr>
              <a:t> + AVX2 </a:t>
            </a:r>
            <a:r>
              <a:rPr lang="it-IT" sz="1500" b="0" dirty="0">
                <a:latin typeface="Arial"/>
                <a:cs typeface="Arial"/>
              </a:rPr>
              <a:t>→ combina i due livelli ottenendo ottime prestazioni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Arial"/>
                <a:cs typeface="Arial"/>
              </a:rPr>
              <a:t>CUDA</a:t>
            </a:r>
            <a:r>
              <a:rPr lang="it-IT" sz="1500" b="0" dirty="0">
                <a:latin typeface="Arial"/>
                <a:cs typeface="Arial"/>
              </a:rPr>
              <a:t> → </a:t>
            </a:r>
            <a:r>
              <a:rPr lang="it-IT" sz="1500" b="1" dirty="0">
                <a:latin typeface="Arial"/>
                <a:cs typeface="Arial"/>
              </a:rPr>
              <a:t>prestazioni</a:t>
            </a:r>
            <a:r>
              <a:rPr lang="it-IT" sz="1500" b="0" dirty="0">
                <a:latin typeface="Arial"/>
                <a:cs typeface="Arial"/>
              </a:rPr>
              <a:t> migliori in assoluto </a:t>
            </a:r>
            <a:r>
              <a:rPr lang="it-IT" sz="1500" dirty="0">
                <a:latin typeface="Arial"/>
                <a:cs typeface="Arial"/>
              </a:rPr>
              <a:t>con</a:t>
            </a:r>
            <a:r>
              <a:rPr lang="it-IT" sz="1500" b="0" dirty="0">
                <a:latin typeface="Arial"/>
                <a:cs typeface="Arial"/>
              </a:rPr>
              <a:t> carichi grandi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0F827E-94CC-2FE8-9572-B11A87D8F5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755" y="3488778"/>
            <a:ext cx="3918062" cy="22855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9FC485-1FA6-D667-D7A0-F8CD3873C1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584" y="3488778"/>
            <a:ext cx="4166963" cy="2296125"/>
          </a:xfrm>
          <a:prstGeom prst="rect">
            <a:avLst/>
          </a:prstGeom>
        </p:spPr>
      </p:pic>
      <p:sp>
        <p:nvSpPr>
          <p:cNvPr id="13" name="Corpo">
            <a:extLst>
              <a:ext uri="{FF2B5EF4-FFF2-40B4-BE49-F238E27FC236}">
                <a16:creationId xmlns:a16="http://schemas.microsoft.com/office/drawing/2014/main" id="{CF4CAB19-3B6B-544B-3B08-E5DC2FD8B826}"/>
              </a:ext>
            </a:extLst>
          </p:cNvPr>
          <p:cNvSpPr txBox="1"/>
          <p:nvPr/>
        </p:nvSpPr>
        <p:spPr>
          <a:xfrm>
            <a:off x="4379584" y="5734870"/>
            <a:ext cx="4156179" cy="42158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ts val="600"/>
              </a:spcBef>
            </a:pPr>
            <a:r>
              <a:rPr lang="it-IT" sz="1100" dirty="0">
                <a:latin typeface="Arial"/>
                <a:cs typeface="Arial"/>
              </a:rPr>
              <a:t>Grafico a barre dei tempi impiegati da ogni configurazione (scala logaritmica)</a:t>
            </a:r>
          </a:p>
        </p:txBody>
      </p:sp>
      <p:sp>
        <p:nvSpPr>
          <p:cNvPr id="16" name="Corpo">
            <a:extLst>
              <a:ext uri="{FF2B5EF4-FFF2-40B4-BE49-F238E27FC236}">
                <a16:creationId xmlns:a16="http://schemas.microsoft.com/office/drawing/2014/main" id="{E46E6DF2-B692-2BA6-B4E1-3687EC9DC90F}"/>
              </a:ext>
            </a:extLst>
          </p:cNvPr>
          <p:cNvSpPr txBox="1"/>
          <p:nvPr/>
        </p:nvSpPr>
        <p:spPr>
          <a:xfrm>
            <a:off x="318755" y="5734870"/>
            <a:ext cx="4060829" cy="42158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spcBef>
                <a:spcPts val="600"/>
              </a:spcBef>
            </a:pPr>
            <a:r>
              <a:rPr lang="it-IT" sz="1100" dirty="0">
                <a:latin typeface="Arial"/>
                <a:cs typeface="Arial"/>
              </a:rPr>
              <a:t>Grafico dei tempi impiegati da ogni configurazione</a:t>
            </a:r>
          </a:p>
        </p:txBody>
      </p:sp>
      <p:sp>
        <p:nvSpPr>
          <p:cNvPr id="18" name="CasellaDiTesto 9">
            <a:extLst>
              <a:ext uri="{FF2B5EF4-FFF2-40B4-BE49-F238E27FC236}">
                <a16:creationId xmlns:a16="http://schemas.microsoft.com/office/drawing/2014/main" id="{5DFD0EC2-B276-94B8-3F8D-FD598E155A20}"/>
              </a:ext>
            </a:extLst>
          </p:cNvPr>
          <p:cNvSpPr txBox="1"/>
          <p:nvPr/>
        </p:nvSpPr>
        <p:spPr>
          <a:xfrm>
            <a:off x="7365999" y="51433"/>
            <a:ext cx="13278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800" b="1" dirty="0" err="1">
                <a:solidFill>
                  <a:schemeClr val="bg1"/>
                </a:solidFill>
                <a:latin typeface="Arial"/>
                <a:cs typeface="Arial"/>
              </a:rPr>
              <a:t>Parallel</a:t>
            </a:r>
            <a:r>
              <a:rPr lang="it-IT" sz="800" b="1" dirty="0">
                <a:solidFill>
                  <a:schemeClr val="bg1"/>
                </a:solidFill>
                <a:latin typeface="Arial"/>
                <a:cs typeface="Arial"/>
              </a:rPr>
              <a:t> Kernel Image Processing</a:t>
            </a:r>
          </a:p>
        </p:txBody>
      </p:sp>
      <p:sp>
        <p:nvSpPr>
          <p:cNvPr id="20" name="CasellaDiTesto 13">
            <a:extLst>
              <a:ext uri="{FF2B5EF4-FFF2-40B4-BE49-F238E27FC236}">
                <a16:creationId xmlns:a16="http://schemas.microsoft.com/office/drawing/2014/main" id="{853AE7F4-18E5-576C-C00D-5837B133D972}"/>
              </a:ext>
            </a:extLst>
          </p:cNvPr>
          <p:cNvSpPr txBox="1"/>
          <p:nvPr/>
        </p:nvSpPr>
        <p:spPr>
          <a:xfrm>
            <a:off x="7648765" y="403482"/>
            <a:ext cx="10550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800" dirty="0" err="1">
                <a:solidFill>
                  <a:schemeClr val="bg1"/>
                </a:solidFill>
                <a:latin typeface="Arial"/>
                <a:cs typeface="Arial"/>
              </a:rPr>
              <a:t>Parallel</a:t>
            </a:r>
            <a:r>
              <a:rPr lang="it-IT" sz="800" dirty="0">
                <a:solidFill>
                  <a:schemeClr val="bg1"/>
                </a:solidFill>
                <a:latin typeface="Arial"/>
                <a:cs typeface="Arial"/>
              </a:rPr>
              <a:t> Computing</a:t>
            </a:r>
          </a:p>
        </p:txBody>
      </p:sp>
    </p:spTree>
    <p:extLst>
      <p:ext uri="{BB962C8B-B14F-4D97-AF65-F5344CB8AC3E}">
        <p14:creationId xmlns:p14="http://schemas.microsoft.com/office/powerpoint/2010/main" val="2937538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47142-A457-8886-B4AB-D9DD8D2B7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1F9708B0-C74E-C396-0B11-13BEE12F7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07"/>
            <a:ext cx="9180512" cy="6872633"/>
          </a:xfrm>
          <a:prstGeom prst="rect">
            <a:avLst/>
          </a:prstGeom>
        </p:spPr>
      </p:pic>
      <p:sp>
        <p:nvSpPr>
          <p:cNvPr id="12" name="Rettangolo 11">
            <a:extLst>
              <a:ext uri="{FF2B5EF4-FFF2-40B4-BE49-F238E27FC236}">
                <a16:creationId xmlns:a16="http://schemas.microsoft.com/office/drawing/2014/main" id="{3633F523-260D-2EE4-D514-346546786D4E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DF1ED26D-860D-6731-2FDD-42E59B207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13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5" name="Titolo">
            <a:extLst>
              <a:ext uri="{FF2B5EF4-FFF2-40B4-BE49-F238E27FC236}">
                <a16:creationId xmlns:a16="http://schemas.microsoft.com/office/drawing/2014/main" id="{4D1F0624-7A70-C1DE-02EF-4A02016E2552}"/>
              </a:ext>
            </a:extLst>
          </p:cNvPr>
          <p:cNvSpPr txBox="1"/>
          <p:nvPr/>
        </p:nvSpPr>
        <p:spPr>
          <a:xfrm>
            <a:off x="582704" y="942458"/>
            <a:ext cx="7819027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it-IT" sz="2600" b="1" dirty="0" err="1">
                <a:solidFill>
                  <a:srgbClr val="003053"/>
                </a:solidFill>
                <a:latin typeface="Arial"/>
                <a:cs typeface="Arial"/>
              </a:rPr>
              <a:t>Speedup</a:t>
            </a:r>
            <a:endParaRPr lang="it-IT" sz="2600" b="1" dirty="0">
              <a:solidFill>
                <a:srgbClr val="003053"/>
              </a:solidFill>
              <a:latin typeface="Arial"/>
              <a:cs typeface="Arial"/>
            </a:endParaRPr>
          </a:p>
        </p:txBody>
      </p:sp>
      <p:sp>
        <p:nvSpPr>
          <p:cNvPr id="19" name="Corpo">
            <a:extLst>
              <a:ext uri="{FF2B5EF4-FFF2-40B4-BE49-F238E27FC236}">
                <a16:creationId xmlns:a16="http://schemas.microsoft.com/office/drawing/2014/main" id="{E1F85D32-BF4F-79B1-3CC5-57BB432E10A5}"/>
              </a:ext>
            </a:extLst>
          </p:cNvPr>
          <p:cNvSpPr txBox="1"/>
          <p:nvPr/>
        </p:nvSpPr>
        <p:spPr>
          <a:xfrm>
            <a:off x="4208508" y="1111452"/>
            <a:ext cx="4046492" cy="252357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28600" indent="-228600">
              <a:spcBef>
                <a:spcPts val="600"/>
              </a:spcBef>
              <a:buFont typeface="Arial"/>
              <a:buChar char="▪"/>
            </a:pPr>
            <a:endParaRPr lang="it-IT" sz="1500" b="0" dirty="0">
              <a:latin typeface="Arial"/>
              <a:cs typeface="Arial"/>
            </a:endParaRPr>
          </a:p>
        </p:txBody>
      </p:sp>
      <p:sp>
        <p:nvSpPr>
          <p:cNvPr id="21" name="Corpo">
            <a:extLst>
              <a:ext uri="{FF2B5EF4-FFF2-40B4-BE49-F238E27FC236}">
                <a16:creationId xmlns:a16="http://schemas.microsoft.com/office/drawing/2014/main" id="{717B7A6A-5BF9-E804-08CD-860D16E5B978}"/>
              </a:ext>
            </a:extLst>
          </p:cNvPr>
          <p:cNvSpPr txBox="1"/>
          <p:nvPr/>
        </p:nvSpPr>
        <p:spPr>
          <a:xfrm>
            <a:off x="-1208041" y="4483436"/>
            <a:ext cx="4046492" cy="252357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28600" indent="-228600">
              <a:spcBef>
                <a:spcPts val="600"/>
              </a:spcBef>
              <a:buFont typeface="Arial"/>
              <a:buChar char="▪"/>
            </a:pPr>
            <a:endParaRPr lang="it-IT" sz="1500" b="0" dirty="0">
              <a:latin typeface="Arial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921D34-306C-EF69-C0E7-BBCD481E61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3284" y="1032631"/>
            <a:ext cx="5222898" cy="3046690"/>
          </a:xfrm>
          <a:prstGeom prst="rect">
            <a:avLst/>
          </a:prstGeom>
        </p:spPr>
      </p:pic>
      <p:sp>
        <p:nvSpPr>
          <p:cNvPr id="9" name="Corpo">
            <a:extLst>
              <a:ext uri="{FF2B5EF4-FFF2-40B4-BE49-F238E27FC236}">
                <a16:creationId xmlns:a16="http://schemas.microsoft.com/office/drawing/2014/main" id="{6B24D636-837C-77B0-1BC6-689359464F13}"/>
              </a:ext>
            </a:extLst>
          </p:cNvPr>
          <p:cNvSpPr txBox="1"/>
          <p:nvPr/>
        </p:nvSpPr>
        <p:spPr>
          <a:xfrm>
            <a:off x="435973" y="4079321"/>
            <a:ext cx="8099789" cy="237519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Arial"/>
                <a:cs typeface="Arial"/>
              </a:rPr>
              <a:t>AVX2</a:t>
            </a:r>
            <a:r>
              <a:rPr lang="it-IT" sz="1500" dirty="0">
                <a:latin typeface="Arial"/>
                <a:cs typeface="Arial"/>
              </a:rPr>
              <a:t> → </a:t>
            </a:r>
            <a:r>
              <a:rPr lang="it-IT" sz="1500" dirty="0" err="1">
                <a:latin typeface="Arial"/>
                <a:cs typeface="Arial"/>
              </a:rPr>
              <a:t>speedup</a:t>
            </a:r>
            <a:r>
              <a:rPr lang="it-IT" sz="1500" dirty="0">
                <a:latin typeface="Arial"/>
                <a:cs typeface="Arial"/>
              </a:rPr>
              <a:t> praticamente </a:t>
            </a:r>
            <a:r>
              <a:rPr lang="it-IT" sz="1500" b="1" dirty="0">
                <a:latin typeface="Arial"/>
                <a:cs typeface="Arial"/>
              </a:rPr>
              <a:t>costante</a:t>
            </a:r>
            <a:r>
              <a:rPr lang="it-IT" sz="1500" dirty="0">
                <a:latin typeface="Arial"/>
                <a:cs typeface="Arial"/>
              </a:rPr>
              <a:t> → stesso numero di operazioni per istruzione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 err="1">
                <a:latin typeface="Arial"/>
                <a:cs typeface="Arial"/>
              </a:rPr>
              <a:t>OpenMP</a:t>
            </a:r>
            <a:r>
              <a:rPr lang="it-IT" sz="1500" dirty="0">
                <a:latin typeface="Arial"/>
                <a:cs typeface="Arial"/>
              </a:rPr>
              <a:t> → </a:t>
            </a:r>
            <a:r>
              <a:rPr lang="it-IT" sz="1500" dirty="0" err="1">
                <a:latin typeface="Arial"/>
                <a:cs typeface="Arial"/>
              </a:rPr>
              <a:t>speedup</a:t>
            </a:r>
            <a:r>
              <a:rPr lang="it-IT" sz="1500" dirty="0">
                <a:latin typeface="Arial"/>
                <a:cs typeface="Arial"/>
              </a:rPr>
              <a:t> </a:t>
            </a:r>
            <a:r>
              <a:rPr lang="it-IT" sz="1500" b="1" dirty="0">
                <a:latin typeface="Arial"/>
                <a:cs typeface="Arial"/>
              </a:rPr>
              <a:t>cresce</a:t>
            </a:r>
            <a:r>
              <a:rPr lang="it-IT" sz="1500" dirty="0">
                <a:latin typeface="Arial"/>
                <a:cs typeface="Arial"/>
              </a:rPr>
              <a:t> → </a:t>
            </a:r>
            <a:r>
              <a:rPr lang="it-IT" sz="1500" b="1" dirty="0">
                <a:latin typeface="Arial"/>
                <a:cs typeface="Arial"/>
              </a:rPr>
              <a:t>overhead</a:t>
            </a:r>
            <a:r>
              <a:rPr lang="it-IT" sz="1500" dirty="0">
                <a:latin typeface="Arial"/>
                <a:cs typeface="Arial"/>
              </a:rPr>
              <a:t> iniziale → pesa meno con immagini grandi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Arial"/>
                <a:cs typeface="Arial"/>
              </a:rPr>
              <a:t>CUDA</a:t>
            </a:r>
            <a:r>
              <a:rPr lang="it-IT" sz="1500" dirty="0">
                <a:latin typeface="Arial"/>
                <a:cs typeface="Arial"/>
              </a:rPr>
              <a:t> → andamento </a:t>
            </a:r>
            <a:r>
              <a:rPr lang="it-IT" sz="1500" b="1" dirty="0">
                <a:latin typeface="Arial"/>
                <a:cs typeface="Arial"/>
              </a:rPr>
              <a:t>crescente</a:t>
            </a:r>
            <a:r>
              <a:rPr lang="it-IT" sz="1500" dirty="0">
                <a:latin typeface="Arial"/>
                <a:cs typeface="Arial"/>
              </a:rPr>
              <a:t> → costo pari a CPU con pochi pixel → </a:t>
            </a:r>
            <a:r>
              <a:rPr lang="it-IT" sz="1500" b="1" dirty="0">
                <a:latin typeface="Arial"/>
                <a:cs typeface="Arial"/>
              </a:rPr>
              <a:t>overhead</a:t>
            </a:r>
            <a:r>
              <a:rPr lang="it-IT" sz="1500" dirty="0">
                <a:latin typeface="Arial"/>
                <a:cs typeface="Arial"/>
              </a:rPr>
              <a:t> di allocazione e copia dati notevole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Arial"/>
                <a:cs typeface="Arial"/>
              </a:rPr>
              <a:t>CUDA</a:t>
            </a:r>
            <a:r>
              <a:rPr lang="it-IT" sz="1500" dirty="0">
                <a:latin typeface="Arial"/>
                <a:cs typeface="Arial"/>
              </a:rPr>
              <a:t> → </a:t>
            </a:r>
            <a:r>
              <a:rPr lang="it-IT" sz="1500" b="1" dirty="0">
                <a:latin typeface="Arial"/>
                <a:cs typeface="Arial"/>
              </a:rPr>
              <a:t>migliore</a:t>
            </a:r>
            <a:r>
              <a:rPr lang="it-IT" sz="1500" dirty="0">
                <a:latin typeface="Arial"/>
                <a:cs typeface="Arial"/>
              </a:rPr>
              <a:t> in assoluto per </a:t>
            </a:r>
            <a:r>
              <a:rPr lang="it-IT" sz="1500" b="1" dirty="0">
                <a:latin typeface="Arial"/>
                <a:cs typeface="Arial"/>
              </a:rPr>
              <a:t>immagini grandi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Arial"/>
                <a:cs typeface="Arial"/>
              </a:rPr>
              <a:t>Oscillazioni</a:t>
            </a:r>
            <a:r>
              <a:rPr lang="it-IT" sz="1500" dirty="0">
                <a:latin typeface="Arial"/>
                <a:cs typeface="Arial"/>
              </a:rPr>
              <a:t> con pochi pixel → tempi di esecuzione molto brevi → </a:t>
            </a:r>
            <a:r>
              <a:rPr lang="it-IT" sz="1500" b="1" dirty="0">
                <a:latin typeface="Arial"/>
                <a:cs typeface="Arial"/>
              </a:rPr>
              <a:t>rumore di misurazione </a:t>
            </a:r>
            <a:r>
              <a:rPr lang="it-IT" sz="1500" dirty="0">
                <a:latin typeface="Arial"/>
                <a:cs typeface="Arial"/>
              </a:rPr>
              <a:t>molto impattante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dirty="0" err="1">
                <a:latin typeface="Arial"/>
                <a:cs typeface="Arial"/>
              </a:rPr>
              <a:t>Speedup</a:t>
            </a:r>
            <a:r>
              <a:rPr lang="it-IT" sz="1500" dirty="0">
                <a:latin typeface="Arial"/>
                <a:cs typeface="Arial"/>
              </a:rPr>
              <a:t> → rapporto tra due tempi → piccoli errori causano grandi variazioni percentuali</a:t>
            </a:r>
          </a:p>
        </p:txBody>
      </p:sp>
      <p:sp>
        <p:nvSpPr>
          <p:cNvPr id="16" name="CasellaDiTesto 9">
            <a:extLst>
              <a:ext uri="{FF2B5EF4-FFF2-40B4-BE49-F238E27FC236}">
                <a16:creationId xmlns:a16="http://schemas.microsoft.com/office/drawing/2014/main" id="{4EF81B20-2224-7338-4034-CDBB6D7E6849}"/>
              </a:ext>
            </a:extLst>
          </p:cNvPr>
          <p:cNvSpPr txBox="1"/>
          <p:nvPr/>
        </p:nvSpPr>
        <p:spPr>
          <a:xfrm>
            <a:off x="7365999" y="51433"/>
            <a:ext cx="13278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800" b="1" dirty="0" err="1">
                <a:solidFill>
                  <a:schemeClr val="bg1"/>
                </a:solidFill>
                <a:latin typeface="Arial"/>
                <a:cs typeface="Arial"/>
              </a:rPr>
              <a:t>Parallel</a:t>
            </a:r>
            <a:r>
              <a:rPr lang="it-IT" sz="800" b="1" dirty="0">
                <a:solidFill>
                  <a:schemeClr val="bg1"/>
                </a:solidFill>
                <a:latin typeface="Arial"/>
                <a:cs typeface="Arial"/>
              </a:rPr>
              <a:t> Kernel Image Processing</a:t>
            </a:r>
          </a:p>
        </p:txBody>
      </p:sp>
      <p:sp>
        <p:nvSpPr>
          <p:cNvPr id="20" name="CasellaDiTesto 13">
            <a:extLst>
              <a:ext uri="{FF2B5EF4-FFF2-40B4-BE49-F238E27FC236}">
                <a16:creationId xmlns:a16="http://schemas.microsoft.com/office/drawing/2014/main" id="{E643A0F3-0D7C-3C80-9939-CDEDBFF13AA0}"/>
              </a:ext>
            </a:extLst>
          </p:cNvPr>
          <p:cNvSpPr txBox="1"/>
          <p:nvPr/>
        </p:nvSpPr>
        <p:spPr>
          <a:xfrm>
            <a:off x="7648765" y="403482"/>
            <a:ext cx="10550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800" dirty="0" err="1">
                <a:solidFill>
                  <a:schemeClr val="bg1"/>
                </a:solidFill>
                <a:latin typeface="Arial"/>
                <a:cs typeface="Arial"/>
              </a:rPr>
              <a:t>Parallel</a:t>
            </a:r>
            <a:r>
              <a:rPr lang="it-IT" sz="800" dirty="0">
                <a:solidFill>
                  <a:schemeClr val="bg1"/>
                </a:solidFill>
                <a:latin typeface="Arial"/>
                <a:cs typeface="Arial"/>
              </a:rPr>
              <a:t> Computing</a:t>
            </a:r>
          </a:p>
        </p:txBody>
      </p:sp>
    </p:spTree>
    <p:extLst>
      <p:ext uri="{BB962C8B-B14F-4D97-AF65-F5344CB8AC3E}">
        <p14:creationId xmlns:p14="http://schemas.microsoft.com/office/powerpoint/2010/main" val="2669305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EDACE-E844-436E-3C32-59D77D8AB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400CED35-AC9C-0484-5DE1-78EACC61D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07"/>
            <a:ext cx="9180512" cy="6872633"/>
          </a:xfrm>
          <a:prstGeom prst="rect">
            <a:avLst/>
          </a:prstGeom>
        </p:spPr>
      </p:pic>
      <p:sp>
        <p:nvSpPr>
          <p:cNvPr id="12" name="Rettangolo 11">
            <a:extLst>
              <a:ext uri="{FF2B5EF4-FFF2-40B4-BE49-F238E27FC236}">
                <a16:creationId xmlns:a16="http://schemas.microsoft.com/office/drawing/2014/main" id="{3D6E94EB-9AE5-39E8-0038-B9CD3F374E3D}"/>
              </a:ext>
            </a:extLst>
          </p:cNvPr>
          <p:cNvSpPr/>
          <p:nvPr/>
        </p:nvSpPr>
        <p:spPr>
          <a:xfrm>
            <a:off x="8255000" y="6366466"/>
            <a:ext cx="280763" cy="501650"/>
          </a:xfrm>
          <a:prstGeom prst="rect">
            <a:avLst/>
          </a:prstGeom>
          <a:solidFill>
            <a:srgbClr val="003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003257"/>
              </a:solidFill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BCD658EF-A38F-6342-F45F-CFA0BA709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2163" y="6356350"/>
            <a:ext cx="2133600" cy="365125"/>
          </a:xfrm>
        </p:spPr>
        <p:txBody>
          <a:bodyPr/>
          <a:lstStyle/>
          <a:p>
            <a:fld id="{8EB8520A-26EA-DE4B-B141-4532FC98FF0E}" type="slidenum">
              <a:rPr lang="it-IT" b="1" smtClean="0">
                <a:solidFill>
                  <a:schemeClr val="bg1"/>
                </a:solidFill>
                <a:latin typeface="Arial"/>
                <a:cs typeface="Arial"/>
              </a:rPr>
              <a:pPr/>
              <a:t>14</a:t>
            </a:fld>
            <a:endParaRPr lang="it-IT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" name="Titolo">
            <a:extLst>
              <a:ext uri="{FF2B5EF4-FFF2-40B4-BE49-F238E27FC236}">
                <a16:creationId xmlns:a16="http://schemas.microsoft.com/office/drawing/2014/main" id="{5D02E7A9-5146-F571-EBC3-D0EEC508724A}"/>
              </a:ext>
            </a:extLst>
          </p:cNvPr>
          <p:cNvSpPr txBox="1"/>
          <p:nvPr/>
        </p:nvSpPr>
        <p:spPr>
          <a:xfrm>
            <a:off x="582704" y="942458"/>
            <a:ext cx="7819027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it-IT" sz="2600" b="1" dirty="0">
                <a:solidFill>
                  <a:srgbClr val="003053"/>
                </a:solidFill>
                <a:latin typeface="Arial"/>
                <a:cs typeface="Arial"/>
              </a:rPr>
              <a:t>Conclusioni</a:t>
            </a:r>
          </a:p>
        </p:txBody>
      </p:sp>
      <p:sp>
        <p:nvSpPr>
          <p:cNvPr id="6" name="Corpo">
            <a:extLst>
              <a:ext uri="{FF2B5EF4-FFF2-40B4-BE49-F238E27FC236}">
                <a16:creationId xmlns:a16="http://schemas.microsoft.com/office/drawing/2014/main" id="{C79FC5EC-053D-D935-7838-51DD5D2E44DA}"/>
              </a:ext>
            </a:extLst>
          </p:cNvPr>
          <p:cNvSpPr txBox="1"/>
          <p:nvPr/>
        </p:nvSpPr>
        <p:spPr>
          <a:xfrm>
            <a:off x="584753" y="1725648"/>
            <a:ext cx="7819027" cy="360992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Arial"/>
                <a:cs typeface="Arial"/>
              </a:rPr>
              <a:t>Risoluzione</a:t>
            </a:r>
            <a:r>
              <a:rPr lang="it-IT" sz="1500" b="0" dirty="0">
                <a:latin typeface="Arial"/>
                <a:cs typeface="Arial"/>
              </a:rPr>
              <a:t> immagini tendenzialmente sempre </a:t>
            </a:r>
            <a:r>
              <a:rPr lang="it-IT" sz="1500" b="1" dirty="0">
                <a:latin typeface="Arial"/>
                <a:cs typeface="Arial"/>
              </a:rPr>
              <a:t>in aumento </a:t>
            </a:r>
            <a:r>
              <a:rPr lang="it-IT" sz="1500" b="0" dirty="0">
                <a:latin typeface="Arial"/>
                <a:cs typeface="Arial"/>
              </a:rPr>
              <a:t>nella storia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Arial"/>
                <a:cs typeface="Arial"/>
              </a:rPr>
              <a:t>CUDA</a:t>
            </a:r>
            <a:r>
              <a:rPr lang="it-IT" sz="1500" b="0" dirty="0">
                <a:latin typeface="Arial"/>
                <a:cs typeface="Arial"/>
              </a:rPr>
              <a:t> è la soluzione </a:t>
            </a:r>
            <a:r>
              <a:rPr lang="it-IT" sz="1500" b="1" dirty="0">
                <a:latin typeface="Arial"/>
                <a:cs typeface="Arial"/>
              </a:rPr>
              <a:t>più efficace </a:t>
            </a:r>
            <a:r>
              <a:rPr lang="it-IT" sz="1500" b="0" dirty="0">
                <a:latin typeface="Arial"/>
                <a:cs typeface="Arial"/>
              </a:rPr>
              <a:t>per </a:t>
            </a:r>
            <a:r>
              <a:rPr lang="it-IT" sz="1500" b="1" dirty="0">
                <a:latin typeface="Arial"/>
                <a:cs typeface="Arial"/>
              </a:rPr>
              <a:t>immagini grandi </a:t>
            </a:r>
            <a:r>
              <a:rPr lang="it-IT" sz="1500" dirty="0">
                <a:latin typeface="Arial"/>
                <a:cs typeface="Arial"/>
              </a:rPr>
              <a:t>→ r</a:t>
            </a:r>
            <a:r>
              <a:rPr lang="it-IT" sz="1500" b="0" dirty="0">
                <a:latin typeface="Arial"/>
                <a:cs typeface="Arial"/>
              </a:rPr>
              <a:t>ichiesto </a:t>
            </a:r>
            <a:r>
              <a:rPr lang="it-IT" sz="1500" b="1" dirty="0">
                <a:latin typeface="Arial"/>
                <a:cs typeface="Arial"/>
              </a:rPr>
              <a:t>hardware</a:t>
            </a:r>
            <a:r>
              <a:rPr lang="it-IT" sz="1500" b="0" dirty="0">
                <a:latin typeface="Arial"/>
                <a:cs typeface="Arial"/>
              </a:rPr>
              <a:t> </a:t>
            </a:r>
            <a:r>
              <a:rPr lang="it-IT" sz="1500" b="1" dirty="0">
                <a:latin typeface="Arial"/>
                <a:cs typeface="Arial"/>
              </a:rPr>
              <a:t>aggiuntivo</a:t>
            </a:r>
            <a:r>
              <a:rPr lang="it-IT" sz="1500" b="0" dirty="0">
                <a:latin typeface="Arial"/>
                <a:cs typeface="Arial"/>
              </a:rPr>
              <a:t> (GPU NVIDIA)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Arial"/>
                <a:cs typeface="Arial"/>
              </a:rPr>
              <a:t>CPU</a:t>
            </a:r>
            <a:r>
              <a:rPr lang="it-IT" sz="1500" b="0" dirty="0">
                <a:latin typeface="Arial"/>
                <a:cs typeface="Arial"/>
              </a:rPr>
              <a:t>: parallelismo di </a:t>
            </a:r>
            <a:r>
              <a:rPr lang="it-IT" sz="1500" b="0" dirty="0" err="1">
                <a:latin typeface="Arial"/>
                <a:cs typeface="Arial"/>
              </a:rPr>
              <a:t>OpenMP</a:t>
            </a:r>
            <a:r>
              <a:rPr lang="it-IT" sz="1500" b="0" dirty="0">
                <a:latin typeface="Arial"/>
                <a:cs typeface="Arial"/>
              </a:rPr>
              <a:t> </a:t>
            </a:r>
            <a:r>
              <a:rPr lang="it-IT" sz="1500" dirty="0">
                <a:latin typeface="Arial"/>
                <a:cs typeface="Arial"/>
              </a:rPr>
              <a:t>e vettorizzazione</a:t>
            </a:r>
            <a:r>
              <a:rPr lang="it-IT" sz="1500" b="0" dirty="0">
                <a:latin typeface="Arial"/>
                <a:cs typeface="Arial"/>
              </a:rPr>
              <a:t> AVX2 combinati offrono un'</a:t>
            </a:r>
            <a:r>
              <a:rPr lang="it-IT" sz="1500" b="1" dirty="0">
                <a:latin typeface="Arial"/>
                <a:cs typeface="Arial"/>
              </a:rPr>
              <a:t>alternativa</a:t>
            </a:r>
            <a:r>
              <a:rPr lang="it-IT" sz="1500" b="0" dirty="0">
                <a:latin typeface="Arial"/>
                <a:cs typeface="Arial"/>
              </a:rPr>
              <a:t> comunque </a:t>
            </a:r>
            <a:r>
              <a:rPr lang="it-IT" sz="1500" b="1" dirty="0">
                <a:latin typeface="Arial"/>
                <a:cs typeface="Arial"/>
              </a:rPr>
              <a:t>molto valida</a:t>
            </a:r>
          </a:p>
          <a:p>
            <a:pPr marL="228600" indent="-228600">
              <a:spcBef>
                <a:spcPts val="600"/>
              </a:spcBef>
              <a:buFont typeface="Arial"/>
              <a:buChar char="▪"/>
            </a:pPr>
            <a:r>
              <a:rPr lang="it-IT" sz="1500" b="1" dirty="0">
                <a:latin typeface="Arial"/>
                <a:cs typeface="Arial"/>
              </a:rPr>
              <a:t>AVX2</a:t>
            </a:r>
            <a:r>
              <a:rPr lang="it-IT" sz="1500" b="0" dirty="0">
                <a:latin typeface="Arial"/>
                <a:cs typeface="Arial"/>
              </a:rPr>
              <a:t>: migliora le prestazioni ed è </a:t>
            </a:r>
            <a:r>
              <a:rPr lang="it-IT" sz="1500" b="1" dirty="0">
                <a:latin typeface="Arial"/>
                <a:cs typeface="Arial"/>
              </a:rPr>
              <a:t>utile </a:t>
            </a:r>
            <a:r>
              <a:rPr lang="it-IT" sz="1500" dirty="0">
                <a:latin typeface="Arial"/>
                <a:cs typeface="Arial"/>
              </a:rPr>
              <a:t>quando</a:t>
            </a:r>
            <a:r>
              <a:rPr lang="it-IT" sz="1500" b="1" dirty="0">
                <a:latin typeface="Arial"/>
                <a:cs typeface="Arial"/>
              </a:rPr>
              <a:t> multithreading non disponibile </a:t>
            </a:r>
          </a:p>
        </p:txBody>
      </p:sp>
      <p:sp>
        <p:nvSpPr>
          <p:cNvPr id="5" name="CasellaDiTesto 9">
            <a:extLst>
              <a:ext uri="{FF2B5EF4-FFF2-40B4-BE49-F238E27FC236}">
                <a16:creationId xmlns:a16="http://schemas.microsoft.com/office/drawing/2014/main" id="{12437C85-0701-B9C2-F27A-103A99B9509A}"/>
              </a:ext>
            </a:extLst>
          </p:cNvPr>
          <p:cNvSpPr txBox="1"/>
          <p:nvPr/>
        </p:nvSpPr>
        <p:spPr>
          <a:xfrm>
            <a:off x="7365999" y="51433"/>
            <a:ext cx="13278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800" b="1" dirty="0" err="1">
                <a:solidFill>
                  <a:schemeClr val="bg1"/>
                </a:solidFill>
                <a:latin typeface="Arial"/>
                <a:cs typeface="Arial"/>
              </a:rPr>
              <a:t>Parallel</a:t>
            </a:r>
            <a:r>
              <a:rPr lang="it-IT" sz="800" b="1" dirty="0">
                <a:solidFill>
                  <a:schemeClr val="bg1"/>
                </a:solidFill>
                <a:latin typeface="Arial"/>
                <a:cs typeface="Arial"/>
              </a:rPr>
              <a:t> Kernel Image Processing</a:t>
            </a:r>
          </a:p>
        </p:txBody>
      </p:sp>
      <p:sp>
        <p:nvSpPr>
          <p:cNvPr id="8" name="CasellaDiTesto 13">
            <a:extLst>
              <a:ext uri="{FF2B5EF4-FFF2-40B4-BE49-F238E27FC236}">
                <a16:creationId xmlns:a16="http://schemas.microsoft.com/office/drawing/2014/main" id="{2539F086-A1E7-A221-DDC2-ACE755C66244}"/>
              </a:ext>
            </a:extLst>
          </p:cNvPr>
          <p:cNvSpPr txBox="1"/>
          <p:nvPr/>
        </p:nvSpPr>
        <p:spPr>
          <a:xfrm>
            <a:off x="7648765" y="403482"/>
            <a:ext cx="10550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800" dirty="0" err="1">
                <a:solidFill>
                  <a:schemeClr val="bg1"/>
                </a:solidFill>
                <a:latin typeface="Arial"/>
                <a:cs typeface="Arial"/>
              </a:rPr>
              <a:t>Parallel</a:t>
            </a:r>
            <a:r>
              <a:rPr lang="it-IT" sz="800" dirty="0">
                <a:solidFill>
                  <a:schemeClr val="bg1"/>
                </a:solidFill>
                <a:latin typeface="Arial"/>
                <a:cs typeface="Arial"/>
              </a:rPr>
              <a:t> Computing</a:t>
            </a:r>
          </a:p>
        </p:txBody>
      </p:sp>
    </p:spTree>
    <p:extLst>
      <p:ext uri="{BB962C8B-B14F-4D97-AF65-F5344CB8AC3E}">
        <p14:creationId xmlns:p14="http://schemas.microsoft.com/office/powerpoint/2010/main" val="3875355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930" y="6347762"/>
            <a:ext cx="2545261" cy="522390"/>
          </a:xfrm>
          <a:prstGeom prst="rect">
            <a:avLst/>
          </a:prstGeom>
        </p:spPr>
      </p:pic>
      <p:pic>
        <p:nvPicPr>
          <p:cNvPr id="4" name="Immagin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69"/>
            <a:ext cx="9144000" cy="6845300"/>
          </a:xfrm>
          <a:prstGeom prst="rect">
            <a:avLst/>
          </a:prstGeom>
        </p:spPr>
      </p:pic>
      <p:sp>
        <p:nvSpPr>
          <p:cNvPr id="8" name="CasellaDiTesto 7"/>
          <p:cNvSpPr txBox="1"/>
          <p:nvPr/>
        </p:nvSpPr>
        <p:spPr>
          <a:xfrm>
            <a:off x="4914900" y="2932536"/>
            <a:ext cx="362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/>
              <a:t>Parallelizzazione e vettorizzazione di filtri di convoluzione su immagini</a:t>
            </a:r>
          </a:p>
        </p:txBody>
      </p:sp>
      <p:sp>
        <p:nvSpPr>
          <p:cNvPr id="11" name="CasellaDiTesto 10"/>
          <p:cNvSpPr txBox="1"/>
          <p:nvPr/>
        </p:nvSpPr>
        <p:spPr>
          <a:xfrm>
            <a:off x="6524413" y="4590468"/>
            <a:ext cx="20201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1600" b="1" dirty="0">
                <a:latin typeface=""/>
              </a:rPr>
              <a:t>Lorenzo Cappellini</a:t>
            </a:r>
          </a:p>
        </p:txBody>
      </p:sp>
      <p:sp>
        <p:nvSpPr>
          <p:cNvPr id="13" name="CasellaDiTesto 12"/>
          <p:cNvSpPr txBox="1"/>
          <p:nvPr/>
        </p:nvSpPr>
        <p:spPr>
          <a:xfrm>
            <a:off x="6183086" y="6474363"/>
            <a:ext cx="2244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"/>
              </a:rPr>
              <a:t>A.A. 2025/2026</a:t>
            </a:r>
          </a:p>
        </p:txBody>
      </p:sp>
      <p:sp>
        <p:nvSpPr>
          <p:cNvPr id="15" name="CasellaDiTesto 14"/>
          <p:cNvSpPr txBox="1"/>
          <p:nvPr/>
        </p:nvSpPr>
        <p:spPr>
          <a:xfrm>
            <a:off x="1567543" y="2339173"/>
            <a:ext cx="6976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3200" b="1" dirty="0" err="1">
                <a:solidFill>
                  <a:srgbClr val="003257"/>
                </a:solidFill>
                <a:latin typeface=""/>
              </a:rPr>
              <a:t>Parallel</a:t>
            </a:r>
            <a:r>
              <a:rPr lang="it-IT" sz="3200" b="1" dirty="0">
                <a:solidFill>
                  <a:srgbClr val="003257"/>
                </a:solidFill>
                <a:latin typeface=""/>
              </a:rPr>
              <a:t> Kernel Image Processing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2F8FA3-C1E7-F896-7E70-CEEBE27C5FC0}"/>
              </a:ext>
            </a:extLst>
          </p:cNvPr>
          <p:cNvSpPr txBox="1"/>
          <p:nvPr/>
        </p:nvSpPr>
        <p:spPr>
          <a:xfrm>
            <a:off x="6796923" y="4951975"/>
            <a:ext cx="174759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latin typeface="Arial"/>
              </a:defRPr>
            </a:pPr>
            <a:r>
              <a:rPr dirty="0"/>
              <a:t>Parallel Computing</a:t>
            </a:r>
          </a:p>
        </p:txBody>
      </p:sp>
    </p:spTree>
    <p:extLst>
      <p:ext uri="{BB962C8B-B14F-4D97-AF65-F5344CB8AC3E}">
        <p14:creationId xmlns:p14="http://schemas.microsoft.com/office/powerpoint/2010/main" val="33117144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1077</TotalTime>
  <Words>1137</Words>
  <Application>Microsoft Office PowerPoint</Application>
  <PresentationFormat>On-screen Show (4:3)</PresentationFormat>
  <Paragraphs>212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 Math</vt:lpstr>
      <vt:lpstr>Courier New</vt:lpstr>
      <vt:lpstr>Tema di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di PowerPoint</dc:title>
  <dc:creator>susanna</dc:creator>
  <cp:lastModifiedBy>Lorenzo Cappellini</cp:lastModifiedBy>
  <cp:revision>30</cp:revision>
  <dcterms:created xsi:type="dcterms:W3CDTF">2012-12-06T09:21:12Z</dcterms:created>
  <dcterms:modified xsi:type="dcterms:W3CDTF">2026-09-10T22:21:07Z</dcterms:modified>
</cp:coreProperties>
</file>